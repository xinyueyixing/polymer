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3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Lst>
  <p:sldSz cx="30275530" cy="42839640"/>
  <p:notesSz cx="6858000" cy="9144000"/>
  <p:embeddedFontLst>
    <p:embeddedFont>
      <p:font typeface="DejaVu Math TeX Gyre" panose="02000503000000000000" charset="0"/>
      <p:regular r:id="rId10"/>
    </p:embeddedFont>
    <p:embeddedFont>
      <p:font typeface="Arima Koshi" panose="00000500000000000000" charset="0"/>
      <p:regular r:id="rId11"/>
    </p:embeddedFont>
  </p:embeddedFontLst>
  <p:custDataLst>
    <p:tags r:id="rId12"/>
  </p:custDataLst>
  <p:defaultTextStyle>
    <a:defPPr>
      <a:defRPr lang="en-US"/>
    </a:defPPr>
    <a:lvl1pPr marL="0" lvl="0"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4500" b="0" i="0" u="none" kern="1200" baseline="0">
        <a:solidFill>
          <a:schemeClr val="tx1"/>
        </a:solidFill>
        <a:latin typeface="Arial" panose="020B0604020202090204" pitchFamily="34" charset="0"/>
        <a:ea typeface="+mn-ea"/>
        <a:cs typeface="+mn-cs"/>
      </a:defRPr>
    </a:lvl9pPr>
  </p:defaultTextStyle>
  <p:extLst>
    <p:ext uri="{EFAFB233-063F-42B5-8137-9DF3F51BA10A}">
      <p15:sldGuideLst xmlns:p15="http://schemas.microsoft.com/office/powerpoint/2012/main">
        <p15:guide id="1" orient="horz" pos="13208" userDrawn="1">
          <p15:clr>
            <a:srgbClr val="A4A3A4"/>
          </p15:clr>
        </p15:guide>
        <p15:guide id="2" pos="93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8E75AC"/>
    <a:srgbClr val="EEEAF5"/>
    <a:srgbClr val="876CA7"/>
    <a:srgbClr val="8063A1"/>
    <a:srgbClr val="B3A1C6"/>
    <a:srgbClr val="5F497A"/>
    <a:srgbClr val="9061E5"/>
    <a:srgbClr val="8C5BC9"/>
    <a:srgbClr val="C8B9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p:scale>
          <a:sx n="125" d="100"/>
          <a:sy n="125" d="100"/>
        </p:scale>
        <p:origin x="90" y="-11226"/>
      </p:cViewPr>
      <p:guideLst>
        <p:guide orient="horz" pos="13208"/>
        <p:guide pos="935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customXml" Target="../customXml/item1.xml"/><Relationship Id="rId8" Type="http://schemas.openxmlformats.org/officeDocument/2006/relationships/customXmlProps" Target="../customXml/itemProps34.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gs" Target="tags/tag35.xml"/><Relationship Id="rId11" Type="http://schemas.openxmlformats.org/officeDocument/2006/relationships/font" Target="fonts/font2.fntdata"/><Relationship Id="rId10" Type="http://schemas.openxmlformats.org/officeDocument/2006/relationships/font" Target="fonts/font1.fntdata"/><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38490" y="1143000"/>
            <a:ext cx="2181017"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338492" y="1143000"/>
            <a:ext cx="2181017"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784598" y="7011208"/>
            <a:ext cx="22707587" cy="14914926"/>
          </a:xfrm>
        </p:spPr>
        <p:txBody>
          <a:bodyPr anchor="b"/>
          <a:lstStyle>
            <a:lvl1pPr algn="ctr">
              <a:defRPr sz="16760"/>
            </a:lvl1pPr>
          </a:lstStyle>
          <a:p>
            <a:r>
              <a:rPr lang="zh-CN" altLang="en-US"/>
              <a:t>单击此处编辑母版标题样式</a:t>
            </a:r>
            <a:endParaRPr lang="zh-CN" altLang="en-US"/>
          </a:p>
        </p:txBody>
      </p:sp>
      <p:sp>
        <p:nvSpPr>
          <p:cNvPr id="3" name="副标题 2"/>
          <p:cNvSpPr>
            <a:spLocks noGrp="1"/>
          </p:cNvSpPr>
          <p:nvPr>
            <p:ph type="subTitle" idx="1"/>
          </p:nvPr>
        </p:nvSpPr>
        <p:spPr>
          <a:xfrm>
            <a:off x="3784598" y="22501310"/>
            <a:ext cx="22707587" cy="10343259"/>
          </a:xfrm>
        </p:spPr>
        <p:txBody>
          <a:bodyPr/>
          <a:lstStyle>
            <a:lvl1pPr marL="0" indent="0" algn="ctr">
              <a:buNone/>
              <a:defRPr sz="6710"/>
            </a:lvl1pPr>
            <a:lvl2pPr marL="1278255" indent="0" algn="ctr">
              <a:buNone/>
              <a:defRPr sz="5585"/>
            </a:lvl2pPr>
            <a:lvl3pPr marL="2554605" indent="0" algn="ctr">
              <a:buNone/>
              <a:defRPr sz="5030"/>
            </a:lvl3pPr>
            <a:lvl4pPr marL="3831590" indent="0" algn="ctr">
              <a:buNone/>
              <a:defRPr sz="4470"/>
            </a:lvl4pPr>
            <a:lvl5pPr marL="5109845" indent="0" algn="ctr">
              <a:buNone/>
              <a:defRPr sz="4470"/>
            </a:lvl5pPr>
            <a:lvl6pPr marL="6386195" indent="0" algn="ctr">
              <a:buNone/>
              <a:defRPr sz="4470"/>
            </a:lvl6pPr>
            <a:lvl7pPr marL="7663180" indent="0" algn="ctr">
              <a:buNone/>
              <a:defRPr sz="4470"/>
            </a:lvl7pPr>
            <a:lvl8pPr marL="8940800" indent="0" algn="ctr">
              <a:buNone/>
              <a:defRPr sz="4470"/>
            </a:lvl8pPr>
            <a:lvl9pPr marL="10217785" indent="0" algn="ctr">
              <a:buNone/>
              <a:defRPr sz="447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5" name="页脚占位符 4"/>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6" name="灯片编号占位符 5"/>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5" name="页脚占位符 4"/>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6" name="灯片编号占位符 5"/>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065759" y="10680439"/>
            <a:ext cx="26113726" cy="17820556"/>
          </a:xfrm>
        </p:spPr>
        <p:txBody>
          <a:bodyPr anchor="b"/>
          <a:lstStyle>
            <a:lvl1pPr>
              <a:defRPr sz="1676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2065759" y="28669583"/>
            <a:ext cx="26113726" cy="9371409"/>
          </a:xfrm>
        </p:spPr>
        <p:txBody>
          <a:bodyPr/>
          <a:lstStyle>
            <a:lvl1pPr marL="0" indent="0">
              <a:buNone/>
              <a:defRPr sz="6710">
                <a:solidFill>
                  <a:schemeClr val="tx1">
                    <a:tint val="75000"/>
                  </a:schemeClr>
                </a:solidFill>
              </a:defRPr>
            </a:lvl1pPr>
            <a:lvl2pPr marL="1278255" indent="0">
              <a:buNone/>
              <a:defRPr sz="5585">
                <a:solidFill>
                  <a:schemeClr val="tx1">
                    <a:tint val="75000"/>
                  </a:schemeClr>
                </a:solidFill>
              </a:defRPr>
            </a:lvl2pPr>
            <a:lvl3pPr marL="2554605" indent="0">
              <a:buNone/>
              <a:defRPr sz="5030">
                <a:solidFill>
                  <a:schemeClr val="tx1">
                    <a:tint val="75000"/>
                  </a:schemeClr>
                </a:solidFill>
              </a:defRPr>
            </a:lvl3pPr>
            <a:lvl4pPr marL="3831590" indent="0">
              <a:buNone/>
              <a:defRPr sz="4470">
                <a:solidFill>
                  <a:schemeClr val="tx1">
                    <a:tint val="75000"/>
                  </a:schemeClr>
                </a:solidFill>
              </a:defRPr>
            </a:lvl4pPr>
            <a:lvl5pPr marL="5109845" indent="0">
              <a:buNone/>
              <a:defRPr sz="4470">
                <a:solidFill>
                  <a:schemeClr val="tx1">
                    <a:tint val="75000"/>
                  </a:schemeClr>
                </a:solidFill>
              </a:defRPr>
            </a:lvl5pPr>
            <a:lvl6pPr marL="6386195" indent="0">
              <a:buNone/>
              <a:defRPr sz="4470">
                <a:solidFill>
                  <a:schemeClr val="tx1">
                    <a:tint val="75000"/>
                  </a:schemeClr>
                </a:solidFill>
              </a:defRPr>
            </a:lvl6pPr>
            <a:lvl7pPr marL="7663180" indent="0">
              <a:buNone/>
              <a:defRPr sz="4470">
                <a:solidFill>
                  <a:schemeClr val="tx1">
                    <a:tint val="75000"/>
                  </a:schemeClr>
                </a:solidFill>
              </a:defRPr>
            </a:lvl7pPr>
            <a:lvl8pPr marL="8940800" indent="0">
              <a:buNone/>
              <a:defRPr sz="4470">
                <a:solidFill>
                  <a:schemeClr val="tx1">
                    <a:tint val="75000"/>
                  </a:schemeClr>
                </a:solidFill>
              </a:defRPr>
            </a:lvl8pPr>
            <a:lvl9pPr marL="10217785" indent="0">
              <a:buNone/>
              <a:defRPr sz="447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5" name="页脚占位符 4"/>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6" name="灯片编号占位符 5"/>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513644" y="9995347"/>
            <a:ext cx="13352251" cy="2827538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15410885" y="9995347"/>
            <a:ext cx="13352251" cy="2827538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6" name="页脚占位符 5"/>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7" name="灯片编号占位符 6"/>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085471" y="2280872"/>
            <a:ext cx="26113726" cy="8280564"/>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2947154" y="11109596"/>
            <a:ext cx="12102701" cy="5146836"/>
          </a:xfrm>
        </p:spPr>
        <p:txBody>
          <a:bodyPr anchor="ctr" anchorCtr="0"/>
          <a:lstStyle>
            <a:lvl1pPr marL="0" indent="0">
              <a:buNone/>
              <a:defRPr sz="7825"/>
            </a:lvl1pPr>
            <a:lvl2pPr marL="1278255" indent="0">
              <a:buNone/>
              <a:defRPr sz="6710"/>
            </a:lvl2pPr>
            <a:lvl3pPr marL="2554605" indent="0">
              <a:buNone/>
              <a:defRPr sz="5585"/>
            </a:lvl3pPr>
            <a:lvl4pPr marL="3831590" indent="0">
              <a:buNone/>
              <a:defRPr sz="5030"/>
            </a:lvl4pPr>
            <a:lvl5pPr marL="5109845" indent="0">
              <a:buNone/>
              <a:defRPr sz="5030"/>
            </a:lvl5pPr>
            <a:lvl6pPr marL="6386195" indent="0">
              <a:buNone/>
              <a:defRPr sz="5030"/>
            </a:lvl6pPr>
            <a:lvl7pPr marL="7663180" indent="0">
              <a:buNone/>
              <a:defRPr sz="5030"/>
            </a:lvl7pPr>
            <a:lvl8pPr marL="8940800" indent="0">
              <a:buNone/>
              <a:defRPr sz="5030"/>
            </a:lvl8pPr>
            <a:lvl9pPr marL="10217785" indent="0">
              <a:buNone/>
              <a:defRPr sz="503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2947154" y="16650163"/>
            <a:ext cx="12102701" cy="2201559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15538054" y="11109596"/>
            <a:ext cx="12162307" cy="5146836"/>
          </a:xfrm>
        </p:spPr>
        <p:txBody>
          <a:bodyPr anchor="ctr" anchorCtr="0"/>
          <a:lstStyle>
            <a:lvl1pPr marL="0" indent="0">
              <a:buNone/>
              <a:defRPr sz="7825"/>
            </a:lvl1pPr>
            <a:lvl2pPr marL="1278255" indent="0">
              <a:buNone/>
              <a:defRPr sz="6710"/>
            </a:lvl2pPr>
            <a:lvl3pPr marL="2554605" indent="0">
              <a:buNone/>
              <a:defRPr sz="5585"/>
            </a:lvl3pPr>
            <a:lvl4pPr marL="3831590" indent="0">
              <a:buNone/>
              <a:defRPr sz="5030"/>
            </a:lvl4pPr>
            <a:lvl5pPr marL="5109845" indent="0">
              <a:buNone/>
              <a:defRPr sz="5030"/>
            </a:lvl5pPr>
            <a:lvl6pPr marL="6386195" indent="0">
              <a:buNone/>
              <a:defRPr sz="5030"/>
            </a:lvl6pPr>
            <a:lvl7pPr marL="7663180" indent="0">
              <a:buNone/>
              <a:defRPr sz="5030"/>
            </a:lvl7pPr>
            <a:lvl8pPr marL="8940800" indent="0">
              <a:buNone/>
              <a:defRPr sz="5030"/>
            </a:lvl8pPr>
            <a:lvl9pPr marL="10217785" indent="0">
              <a:buNone/>
              <a:defRPr sz="503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15538054" y="16650163"/>
            <a:ext cx="12162307" cy="2201559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8" name="页脚占位符 7"/>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9" name="灯片编号占位符 8"/>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4" name="页脚占位符 3"/>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5" name="灯片编号占位符 4"/>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3" name="页脚占位符 2"/>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4" name="灯片编号占位符 3"/>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471" y="2856050"/>
            <a:ext cx="9765049" cy="9996174"/>
          </a:xfrm>
        </p:spPr>
        <p:txBody>
          <a:bodyPr anchor="b"/>
          <a:lstStyle>
            <a:lvl1pPr>
              <a:defRPr sz="8940"/>
            </a:lvl1pPr>
          </a:lstStyle>
          <a:p>
            <a:r>
              <a:rPr lang="zh-CN" altLang="en-US"/>
              <a:t>单击此处编辑母版标题样式</a:t>
            </a:r>
            <a:endParaRPr lang="zh-CN" altLang="en-US"/>
          </a:p>
        </p:txBody>
      </p:sp>
      <p:sp>
        <p:nvSpPr>
          <p:cNvPr id="3" name="内容占位符 2"/>
          <p:cNvSpPr>
            <a:spLocks noGrp="1"/>
          </p:cNvSpPr>
          <p:nvPr>
            <p:ph idx="1"/>
          </p:nvPr>
        </p:nvSpPr>
        <p:spPr>
          <a:xfrm>
            <a:off x="12871577" y="6168273"/>
            <a:ext cx="15327622" cy="30444694"/>
          </a:xfrm>
        </p:spPr>
        <p:txBody>
          <a:bodyPr/>
          <a:lstStyle>
            <a:lvl1pPr>
              <a:defRPr sz="8940"/>
            </a:lvl1pPr>
            <a:lvl2pPr>
              <a:defRPr sz="7825"/>
            </a:lvl2pPr>
            <a:lvl3pPr>
              <a:defRPr sz="6710"/>
            </a:lvl3pPr>
            <a:lvl4pPr>
              <a:defRPr sz="5585"/>
            </a:lvl4pPr>
            <a:lvl5pPr>
              <a:defRPr sz="5585"/>
            </a:lvl5pPr>
            <a:lvl6pPr>
              <a:defRPr sz="5585"/>
            </a:lvl6pPr>
            <a:lvl7pPr>
              <a:defRPr sz="5585"/>
            </a:lvl7pPr>
            <a:lvl8pPr>
              <a:defRPr sz="5585"/>
            </a:lvl8pPr>
            <a:lvl9pPr>
              <a:defRPr sz="558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2085471" y="12852222"/>
            <a:ext cx="9765049" cy="23810334"/>
          </a:xfrm>
        </p:spPr>
        <p:txBody>
          <a:bodyPr/>
          <a:lstStyle>
            <a:lvl1pPr marL="0" indent="0">
              <a:buNone/>
              <a:defRPr sz="4470"/>
            </a:lvl1pPr>
            <a:lvl2pPr marL="1278255" indent="0">
              <a:buNone/>
              <a:defRPr sz="3905"/>
            </a:lvl2pPr>
            <a:lvl3pPr marL="2554605" indent="0">
              <a:buNone/>
              <a:defRPr sz="3355"/>
            </a:lvl3pPr>
            <a:lvl4pPr marL="3831590" indent="0">
              <a:buNone/>
              <a:defRPr sz="2790"/>
            </a:lvl4pPr>
            <a:lvl5pPr marL="5109845" indent="0">
              <a:buNone/>
              <a:defRPr sz="2790"/>
            </a:lvl5pPr>
            <a:lvl6pPr marL="6386195" indent="0">
              <a:buNone/>
              <a:defRPr sz="2790"/>
            </a:lvl6pPr>
            <a:lvl7pPr marL="7663180" indent="0">
              <a:buNone/>
              <a:defRPr sz="2790"/>
            </a:lvl7pPr>
            <a:lvl8pPr marL="8940800" indent="0">
              <a:buNone/>
              <a:defRPr sz="2790"/>
            </a:lvl8pPr>
            <a:lvl9pPr marL="10217785" indent="0">
              <a:buNone/>
              <a:defRPr sz="279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6" name="页脚占位符 5"/>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7" name="灯片编号占位符 6"/>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471" y="2856050"/>
            <a:ext cx="10343945" cy="9996174"/>
          </a:xfrm>
        </p:spPr>
        <p:txBody>
          <a:bodyPr anchor="b"/>
          <a:lstStyle>
            <a:lvl1pPr>
              <a:defRPr sz="8940"/>
            </a:lvl1pPr>
          </a:lstStyle>
          <a:p>
            <a:r>
              <a:rPr lang="zh-CN" altLang="en-US"/>
              <a:t>单击此处编辑母版标题样式</a:t>
            </a:r>
            <a:endParaRPr lang="zh-CN" altLang="en-US"/>
          </a:p>
        </p:txBody>
      </p:sp>
      <p:sp>
        <p:nvSpPr>
          <p:cNvPr id="3" name="图片占位符 2"/>
          <p:cNvSpPr>
            <a:spLocks noGrp="1"/>
          </p:cNvSpPr>
          <p:nvPr>
            <p:ph type="pic" idx="1"/>
          </p:nvPr>
        </p:nvSpPr>
        <p:spPr>
          <a:xfrm>
            <a:off x="12871577" y="2856057"/>
            <a:ext cx="15327622" cy="33756919"/>
          </a:xfrm>
        </p:spPr>
        <p:txBody>
          <a:bodyPr/>
          <a:lstStyle>
            <a:lvl1pPr marL="0" indent="0">
              <a:buNone/>
              <a:defRPr sz="8940"/>
            </a:lvl1pPr>
            <a:lvl2pPr marL="1278255" indent="0">
              <a:buNone/>
              <a:defRPr sz="7825"/>
            </a:lvl2pPr>
            <a:lvl3pPr marL="2554605" indent="0">
              <a:buNone/>
              <a:defRPr sz="6710"/>
            </a:lvl3pPr>
            <a:lvl4pPr marL="3831590" indent="0">
              <a:buNone/>
              <a:defRPr sz="5585"/>
            </a:lvl4pPr>
            <a:lvl5pPr marL="5109845" indent="0">
              <a:buNone/>
              <a:defRPr sz="5585"/>
            </a:lvl5pPr>
            <a:lvl6pPr marL="6386195" indent="0">
              <a:buNone/>
              <a:defRPr sz="5585"/>
            </a:lvl6pPr>
            <a:lvl7pPr marL="7663180" indent="0">
              <a:buNone/>
              <a:defRPr sz="5585"/>
            </a:lvl7pPr>
            <a:lvl8pPr marL="8940800" indent="0">
              <a:buNone/>
              <a:defRPr sz="5585"/>
            </a:lvl8pPr>
            <a:lvl9pPr marL="10217785" indent="0">
              <a:buNone/>
              <a:defRPr sz="5585"/>
            </a:lvl9pPr>
          </a:lstStyle>
          <a:p>
            <a:endParaRPr lang="zh-CN" altLang="en-US"/>
          </a:p>
        </p:txBody>
      </p:sp>
      <p:sp>
        <p:nvSpPr>
          <p:cNvPr id="4" name="文本占位符 3"/>
          <p:cNvSpPr>
            <a:spLocks noGrp="1"/>
          </p:cNvSpPr>
          <p:nvPr>
            <p:ph type="body" sz="half" idx="2"/>
          </p:nvPr>
        </p:nvSpPr>
        <p:spPr>
          <a:xfrm>
            <a:off x="2085471" y="12852222"/>
            <a:ext cx="10343945" cy="23810334"/>
          </a:xfrm>
        </p:spPr>
        <p:txBody>
          <a:bodyPr/>
          <a:lstStyle>
            <a:lvl1pPr marL="0" indent="0">
              <a:buNone/>
              <a:defRPr sz="5585"/>
            </a:lvl1pPr>
            <a:lvl2pPr marL="1278255" indent="0">
              <a:buNone/>
              <a:defRPr sz="5030"/>
            </a:lvl2pPr>
            <a:lvl3pPr marL="2554605" indent="0">
              <a:buNone/>
              <a:defRPr sz="4470"/>
            </a:lvl3pPr>
            <a:lvl4pPr marL="3831590" indent="0">
              <a:buNone/>
              <a:defRPr sz="3905"/>
            </a:lvl4pPr>
            <a:lvl5pPr marL="5109845" indent="0">
              <a:buNone/>
              <a:defRPr sz="3905"/>
            </a:lvl5pPr>
            <a:lvl6pPr marL="6386195" indent="0">
              <a:buNone/>
              <a:defRPr sz="3905"/>
            </a:lvl6pPr>
            <a:lvl7pPr marL="7663180" indent="0">
              <a:buNone/>
              <a:defRPr sz="3905"/>
            </a:lvl7pPr>
            <a:lvl8pPr marL="8940800" indent="0">
              <a:buNone/>
              <a:defRPr sz="3905"/>
            </a:lvl8pPr>
            <a:lvl9pPr marL="10217785" indent="0">
              <a:buNone/>
              <a:defRPr sz="390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6" name="页脚占位符 5"/>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7" name="灯片编号占位符 6"/>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5" name="页脚占位符 4"/>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6" name="灯片编号占位符 5"/>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1950765" y="1714787"/>
            <a:ext cx="6812374" cy="3655594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513644" y="1714787"/>
            <a:ext cx="20042201" cy="3655594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lvl="0" defTabSz="4704080"/>
            <a:endParaRPr lang="en-US">
              <a:latin typeface="Arial" panose="020B0604020202090204" pitchFamily="34" charset="0"/>
            </a:endParaRPr>
          </a:p>
        </p:txBody>
      </p:sp>
      <p:sp>
        <p:nvSpPr>
          <p:cNvPr id="5" name="页脚占位符 4"/>
          <p:cNvSpPr>
            <a:spLocks noGrp="1"/>
          </p:cNvSpPr>
          <p:nvPr>
            <p:ph type="ftr" sz="quarter" idx="11"/>
          </p:nvPr>
        </p:nvSpPr>
        <p:spPr/>
        <p:txBody>
          <a:bodyPr/>
          <a:lstStyle/>
          <a:p>
            <a:pPr lvl="0" defTabSz="4704080"/>
            <a:endParaRPr lang="en-US">
              <a:latin typeface="Arial" panose="020B0604020202090204" pitchFamily="34" charset="0"/>
            </a:endParaRPr>
          </a:p>
        </p:txBody>
      </p:sp>
      <p:sp>
        <p:nvSpPr>
          <p:cNvPr id="6" name="灯片编号占位符 5"/>
          <p:cNvSpPr>
            <a:spLocks noGrp="1"/>
          </p:cNvSpPr>
          <p:nvPr>
            <p:ph type="sldNum" sz="quarter" idx="12"/>
          </p:nvPr>
        </p:nvSpPr>
        <p:spPr/>
        <p:txBody>
          <a:body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1513644" y="1714787"/>
            <a:ext cx="27249495" cy="7140123"/>
          </a:xfrm>
          <a:prstGeom prst="rect">
            <a:avLst/>
          </a:prstGeom>
          <a:noFill/>
          <a:ln w="9525">
            <a:noFill/>
          </a:ln>
        </p:spPr>
        <p:txBody>
          <a:bodyPr lIns="470259" tIns="235130" rIns="470259" bIns="235130" anchor="ctr" anchorCtr="0"/>
          <a:lstStyle/>
          <a:p>
            <a:pPr lvl="0"/>
            <a:r>
              <a:rPr lang="en-US" altLang="zh-CN" dirty="0"/>
              <a:t>Click to edit Master title style</a:t>
            </a:r>
            <a:endParaRPr lang="en-US" altLang="zh-CN" dirty="0"/>
          </a:p>
        </p:txBody>
      </p:sp>
      <p:sp>
        <p:nvSpPr>
          <p:cNvPr id="1027" name="文本占位符 1026"/>
          <p:cNvSpPr>
            <a:spLocks noGrp="1"/>
          </p:cNvSpPr>
          <p:nvPr>
            <p:ph type="body" idx="1"/>
          </p:nvPr>
        </p:nvSpPr>
        <p:spPr>
          <a:xfrm>
            <a:off x="1513644" y="9995347"/>
            <a:ext cx="27249495" cy="28275385"/>
          </a:xfrm>
          <a:prstGeom prst="rect">
            <a:avLst/>
          </a:prstGeom>
          <a:noFill/>
          <a:ln w="9525">
            <a:noFill/>
          </a:ln>
        </p:spPr>
        <p:txBody>
          <a:bodyPr lIns="470259" tIns="235130" rIns="470259" bIns="235130"/>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8" name="日期占位符 1027"/>
          <p:cNvSpPr>
            <a:spLocks noGrp="1"/>
          </p:cNvSpPr>
          <p:nvPr>
            <p:ph type="dt" sz="half" idx="2"/>
          </p:nvPr>
        </p:nvSpPr>
        <p:spPr>
          <a:xfrm>
            <a:off x="1513644" y="39014496"/>
            <a:ext cx="7064972" cy="2975051"/>
          </a:xfrm>
          <a:prstGeom prst="rect">
            <a:avLst/>
          </a:prstGeom>
          <a:noFill/>
          <a:ln w="9525">
            <a:noFill/>
          </a:ln>
        </p:spPr>
        <p:txBody>
          <a:bodyPr lIns="470259" tIns="235130" rIns="470259" bIns="235130"/>
          <a:lstStyle>
            <a:lvl1pPr>
              <a:defRPr sz="5040"/>
            </a:lvl1pPr>
          </a:lstStyle>
          <a:p>
            <a:pPr lvl="0" defTabSz="4704080"/>
            <a:endParaRPr lang="en-US">
              <a:latin typeface="Arial" panose="020B0604020202090204" pitchFamily="34" charset="0"/>
            </a:endParaRPr>
          </a:p>
        </p:txBody>
      </p:sp>
      <p:sp>
        <p:nvSpPr>
          <p:cNvPr id="1029" name="页脚占位符 1028"/>
          <p:cNvSpPr>
            <a:spLocks noGrp="1"/>
          </p:cNvSpPr>
          <p:nvPr>
            <p:ph type="ftr" sz="quarter" idx="3"/>
          </p:nvPr>
        </p:nvSpPr>
        <p:spPr>
          <a:xfrm>
            <a:off x="10344373" y="39014496"/>
            <a:ext cx="9588037" cy="2975051"/>
          </a:xfrm>
          <a:prstGeom prst="rect">
            <a:avLst/>
          </a:prstGeom>
          <a:noFill/>
          <a:ln w="9525">
            <a:noFill/>
          </a:ln>
        </p:spPr>
        <p:txBody>
          <a:bodyPr lIns="470259" tIns="235130" rIns="470259" bIns="235130"/>
          <a:lstStyle>
            <a:lvl1pPr algn="ctr">
              <a:defRPr sz="5040"/>
            </a:lvl1pPr>
          </a:lstStyle>
          <a:p>
            <a:pPr lvl="0" defTabSz="4704080"/>
            <a:endParaRPr lang="en-US">
              <a:latin typeface="Arial" panose="020B0604020202090204" pitchFamily="34" charset="0"/>
            </a:endParaRPr>
          </a:p>
        </p:txBody>
      </p:sp>
      <p:sp>
        <p:nvSpPr>
          <p:cNvPr id="1030" name="灯片编号占位符 1029"/>
          <p:cNvSpPr>
            <a:spLocks noGrp="1"/>
          </p:cNvSpPr>
          <p:nvPr>
            <p:ph type="sldNum" sz="quarter" idx="4"/>
          </p:nvPr>
        </p:nvSpPr>
        <p:spPr>
          <a:xfrm>
            <a:off x="21698166" y="39014496"/>
            <a:ext cx="7064972" cy="2975051"/>
          </a:xfrm>
          <a:prstGeom prst="rect">
            <a:avLst/>
          </a:prstGeom>
          <a:noFill/>
          <a:ln w="9525">
            <a:noFill/>
          </a:ln>
        </p:spPr>
        <p:txBody>
          <a:bodyPr lIns="470259" tIns="235130" rIns="470259" bIns="235130"/>
          <a:lstStyle>
            <a:lvl1pPr algn="r">
              <a:defRPr sz="5040"/>
            </a:lvl1pPr>
          </a:lstStyle>
          <a:p>
            <a:pPr lvl="0" defTabSz="4704080"/>
            <a:fld id="{9A0DB2DC-4C9A-4742-B13C-FB6460FD3503}" type="slidenum">
              <a:rPr lang="en-US">
                <a:latin typeface="Arial" panose="020B0604020202090204" pitchFamily="34" charset="0"/>
              </a:rPr>
            </a:fld>
            <a:endParaRPr lang="en-US">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3244850" rtl="0" eaLnBrk="1" fontAlgn="base" latinLnBrk="0" hangingPunct="1">
        <a:lnSpc>
          <a:spcPct val="100000"/>
        </a:lnSpc>
        <a:spcBef>
          <a:spcPct val="0"/>
        </a:spcBef>
        <a:spcAft>
          <a:spcPct val="0"/>
        </a:spcAft>
        <a:buNone/>
        <a:defRPr sz="15730" b="0" i="0" u="none" kern="1200" baseline="0">
          <a:solidFill>
            <a:schemeClr val="tx2"/>
          </a:solidFill>
          <a:latin typeface="+mj-lt"/>
          <a:ea typeface="+mj-ea"/>
          <a:cs typeface="+mj-cs"/>
        </a:defRPr>
      </a:lvl1pPr>
    </p:titleStyle>
    <p:bodyStyle>
      <a:lvl1pPr marL="1219200" lvl="0" indent="-1219200" algn="l" defTabSz="3244850" rtl="0" eaLnBrk="1" fontAlgn="base" latinLnBrk="0" hangingPunct="1">
        <a:lnSpc>
          <a:spcPct val="100000"/>
        </a:lnSpc>
        <a:spcBef>
          <a:spcPct val="13000"/>
        </a:spcBef>
        <a:spcAft>
          <a:spcPct val="0"/>
        </a:spcAft>
        <a:buChar char="•"/>
        <a:defRPr sz="11310" b="0" i="0" u="none" kern="1200" baseline="0">
          <a:solidFill>
            <a:schemeClr val="tx1"/>
          </a:solidFill>
          <a:latin typeface="+mn-lt"/>
          <a:ea typeface="+mn-ea"/>
          <a:cs typeface="+mn-cs"/>
        </a:defRPr>
      </a:lvl1pPr>
      <a:lvl2pPr marL="2636520" lvl="1" indent="-1015365" algn="l" defTabSz="3244850" rtl="0" eaLnBrk="1" fontAlgn="base" latinLnBrk="0" hangingPunct="1">
        <a:lnSpc>
          <a:spcPct val="100000"/>
        </a:lnSpc>
        <a:spcBef>
          <a:spcPct val="13000"/>
        </a:spcBef>
        <a:spcAft>
          <a:spcPct val="0"/>
        </a:spcAft>
        <a:buChar char="–"/>
        <a:defRPr sz="9935" b="0" i="0" u="none" kern="1200" baseline="0">
          <a:solidFill>
            <a:schemeClr val="tx1"/>
          </a:solidFill>
          <a:latin typeface="+mn-lt"/>
          <a:ea typeface="+mn-ea"/>
          <a:cs typeface="+mn-cs"/>
        </a:defRPr>
      </a:lvl2pPr>
      <a:lvl3pPr marL="4055745" lvl="2" indent="-810895" algn="l" defTabSz="3244850" rtl="0" eaLnBrk="1" fontAlgn="base" latinLnBrk="0" hangingPunct="1">
        <a:lnSpc>
          <a:spcPct val="100000"/>
        </a:lnSpc>
        <a:spcBef>
          <a:spcPct val="13000"/>
        </a:spcBef>
        <a:spcAft>
          <a:spcPct val="0"/>
        </a:spcAft>
        <a:buChar char="•"/>
        <a:defRPr sz="8555" b="0" i="0" u="none" kern="1200" baseline="0">
          <a:solidFill>
            <a:schemeClr val="tx1"/>
          </a:solidFill>
          <a:latin typeface="+mn-lt"/>
          <a:ea typeface="+mn-ea"/>
          <a:cs typeface="+mn-cs"/>
        </a:defRPr>
      </a:lvl3pPr>
      <a:lvl4pPr marL="5676900" lvl="3" indent="-81089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4pPr>
      <a:lvl5pPr marL="7298055" lvl="4" indent="-81089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5pPr>
      <a:lvl6pPr marL="1734820" lvl="5" indent="-15811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6pPr>
      <a:lvl7pPr marL="2049780" lvl="6" indent="-15811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7pPr>
      <a:lvl8pPr marL="2364740" lvl="7" indent="-15811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8pPr>
      <a:lvl9pPr marL="2680970" lvl="8" indent="-158115" algn="l" defTabSz="3244850" rtl="0" eaLnBrk="1" fontAlgn="base" latinLnBrk="0" hangingPunct="1">
        <a:lnSpc>
          <a:spcPct val="100000"/>
        </a:lnSpc>
        <a:spcBef>
          <a:spcPct val="13000"/>
        </a:spcBef>
        <a:spcAft>
          <a:spcPct val="0"/>
        </a:spcAft>
        <a:buChar char="»"/>
        <a:defRPr sz="7170" b="0" i="0" u="none" kern="1200" baseline="0">
          <a:solidFill>
            <a:schemeClr val="tx1"/>
          </a:solidFill>
          <a:latin typeface="+mn-lt"/>
          <a:ea typeface="+mn-ea"/>
          <a:cs typeface="+mn-cs"/>
        </a:defRPr>
      </a:lvl9pPr>
    </p:bodyStyle>
    <p:otherStyle>
      <a:lvl1pPr marL="0" lvl="0" indent="0" algn="l" defTabSz="631190" rtl="0" eaLnBrk="1" fontAlgn="base" latinLnBrk="0" hangingPunct="1">
        <a:lnSpc>
          <a:spcPct val="100000"/>
        </a:lnSpc>
        <a:spcBef>
          <a:spcPct val="0"/>
        </a:spcBef>
        <a:spcAft>
          <a:spcPct val="0"/>
        </a:spcAft>
        <a:buNone/>
        <a:defRPr sz="1245" b="0" i="0" u="none" kern="1200" baseline="0">
          <a:solidFill>
            <a:schemeClr val="tx1"/>
          </a:solidFill>
          <a:latin typeface="+mn-lt"/>
          <a:ea typeface="+mn-ea"/>
          <a:cs typeface="+mn-cs"/>
        </a:defRPr>
      </a:lvl1pPr>
      <a:lvl2pPr marL="314960" lvl="1"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2pPr>
      <a:lvl3pPr marL="631190" lvl="2"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3pPr>
      <a:lvl4pPr marL="946150" lvl="3"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4pPr>
      <a:lvl5pPr marL="1261745" lvl="4"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5pPr>
      <a:lvl6pPr marL="1576705" lvl="5"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6pPr>
      <a:lvl7pPr marL="1892935" lvl="6"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7pPr>
      <a:lvl8pPr marL="2207895" lvl="7"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8pPr>
      <a:lvl9pPr marL="2522855" lvl="8" indent="0" algn="l" defTabSz="854710" rtl="0" eaLnBrk="1" fontAlgn="base" latinLnBrk="0" hangingPunct="1">
        <a:lnSpc>
          <a:spcPct val="100000"/>
        </a:lnSpc>
        <a:spcBef>
          <a:spcPct val="0"/>
        </a:spcBef>
        <a:spcAft>
          <a:spcPct val="0"/>
        </a:spcAft>
        <a:buNone/>
        <a:defRPr sz="4210" b="0" i="0" u="none" kern="1200" baseline="0">
          <a:solidFill>
            <a:schemeClr val="tx1"/>
          </a:solidFill>
          <a:latin typeface="Arial" panose="020B060402020209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3.xml"/><Relationship Id="rId7" Type="http://schemas.openxmlformats.org/officeDocument/2006/relationships/image" Target="../media/image5.png"/><Relationship Id="rId61" Type="http://schemas.openxmlformats.org/officeDocument/2006/relationships/notesSlide" Target="../notesSlides/notesSlide1.xml"/><Relationship Id="rId60" Type="http://schemas.openxmlformats.org/officeDocument/2006/relationships/slideLayout" Target="../slideLayouts/slideLayout1.xml"/><Relationship Id="rId6" Type="http://schemas.openxmlformats.org/officeDocument/2006/relationships/image" Target="../media/image4.png"/><Relationship Id="rId59" Type="http://schemas.openxmlformats.org/officeDocument/2006/relationships/image" Target="../media/image26.png"/><Relationship Id="rId58" Type="http://schemas.openxmlformats.org/officeDocument/2006/relationships/tags" Target="../tags/tag33.xml"/><Relationship Id="rId57" Type="http://schemas.openxmlformats.org/officeDocument/2006/relationships/image" Target="../media/image25.png"/><Relationship Id="rId56" Type="http://schemas.openxmlformats.org/officeDocument/2006/relationships/tags" Target="../tags/tag32.xml"/><Relationship Id="rId55" Type="http://schemas.openxmlformats.org/officeDocument/2006/relationships/tags" Target="../tags/tag31.xml"/><Relationship Id="rId54" Type="http://schemas.openxmlformats.org/officeDocument/2006/relationships/tags" Target="../tags/tag30.xml"/><Relationship Id="rId53" Type="http://schemas.openxmlformats.org/officeDocument/2006/relationships/tags" Target="../tags/tag29.xml"/><Relationship Id="rId52" Type="http://schemas.openxmlformats.org/officeDocument/2006/relationships/tags" Target="../tags/tag28.xml"/><Relationship Id="rId51" Type="http://schemas.openxmlformats.org/officeDocument/2006/relationships/image" Target="../media/image24.png"/><Relationship Id="rId50" Type="http://schemas.openxmlformats.org/officeDocument/2006/relationships/tags" Target="../tags/tag27.xml"/><Relationship Id="rId5" Type="http://schemas.openxmlformats.org/officeDocument/2006/relationships/image" Target="../media/image3.png"/><Relationship Id="rId49" Type="http://schemas.openxmlformats.org/officeDocument/2006/relationships/image" Target="../media/image23.png"/><Relationship Id="rId48" Type="http://schemas.openxmlformats.org/officeDocument/2006/relationships/tags" Target="../tags/tag26.xml"/><Relationship Id="rId47" Type="http://schemas.openxmlformats.org/officeDocument/2006/relationships/image" Target="../media/image22.png"/><Relationship Id="rId46" Type="http://schemas.openxmlformats.org/officeDocument/2006/relationships/tags" Target="../tags/tag25.xml"/><Relationship Id="rId45" Type="http://schemas.openxmlformats.org/officeDocument/2006/relationships/image" Target="../media/image21.png"/><Relationship Id="rId44" Type="http://schemas.openxmlformats.org/officeDocument/2006/relationships/tags" Target="../tags/tag24.xml"/><Relationship Id="rId43" Type="http://schemas.openxmlformats.org/officeDocument/2006/relationships/image" Target="../media/image20.png"/><Relationship Id="rId42" Type="http://schemas.openxmlformats.org/officeDocument/2006/relationships/tags" Target="../tags/tag23.xml"/><Relationship Id="rId41" Type="http://schemas.openxmlformats.org/officeDocument/2006/relationships/image" Target="../media/image19.png"/><Relationship Id="rId40" Type="http://schemas.openxmlformats.org/officeDocument/2006/relationships/tags" Target="../tags/tag22.xml"/><Relationship Id="rId4" Type="http://schemas.openxmlformats.org/officeDocument/2006/relationships/image" Target="../media/image2.png"/><Relationship Id="rId39" Type="http://schemas.openxmlformats.org/officeDocument/2006/relationships/image" Target="../media/image18.png"/><Relationship Id="rId38" Type="http://schemas.openxmlformats.org/officeDocument/2006/relationships/tags" Target="../tags/tag21.xml"/><Relationship Id="rId37" Type="http://schemas.openxmlformats.org/officeDocument/2006/relationships/image" Target="../media/image17.png"/><Relationship Id="rId36" Type="http://schemas.openxmlformats.org/officeDocument/2006/relationships/tags" Target="../tags/tag20.xml"/><Relationship Id="rId35" Type="http://schemas.openxmlformats.org/officeDocument/2006/relationships/image" Target="../media/image16.png"/><Relationship Id="rId34" Type="http://schemas.openxmlformats.org/officeDocument/2006/relationships/tags" Target="../tags/tag19.xml"/><Relationship Id="rId33" Type="http://schemas.openxmlformats.org/officeDocument/2006/relationships/tags" Target="../tags/tag18.xml"/><Relationship Id="rId32" Type="http://schemas.openxmlformats.org/officeDocument/2006/relationships/image" Target="../media/image15.png"/><Relationship Id="rId31" Type="http://schemas.openxmlformats.org/officeDocument/2006/relationships/tags" Target="../tags/tag17.xml"/><Relationship Id="rId30" Type="http://schemas.openxmlformats.org/officeDocument/2006/relationships/image" Target="../media/image14.png"/><Relationship Id="rId3" Type="http://schemas.openxmlformats.org/officeDocument/2006/relationships/tags" Target="../tags/tag2.xml"/><Relationship Id="rId29" Type="http://schemas.openxmlformats.org/officeDocument/2006/relationships/tags" Target="../tags/tag16.xml"/><Relationship Id="rId28" Type="http://schemas.openxmlformats.org/officeDocument/2006/relationships/tags" Target="../tags/tag15.xml"/><Relationship Id="rId27" Type="http://schemas.openxmlformats.org/officeDocument/2006/relationships/tags" Target="../tags/tag14.xml"/><Relationship Id="rId26" Type="http://schemas.openxmlformats.org/officeDocument/2006/relationships/image" Target="../media/image13.png"/><Relationship Id="rId25" Type="http://schemas.openxmlformats.org/officeDocument/2006/relationships/tags" Target="../tags/tag13.xml"/><Relationship Id="rId24" Type="http://schemas.openxmlformats.org/officeDocument/2006/relationships/image" Target="../media/image12.png"/><Relationship Id="rId23" Type="http://schemas.openxmlformats.org/officeDocument/2006/relationships/tags" Target="../tags/tag12.xml"/><Relationship Id="rId22" Type="http://schemas.openxmlformats.org/officeDocument/2006/relationships/image" Target="../media/image11.png"/><Relationship Id="rId21" Type="http://schemas.openxmlformats.org/officeDocument/2006/relationships/tags" Target="../tags/tag11.xml"/><Relationship Id="rId20" Type="http://schemas.openxmlformats.org/officeDocument/2006/relationships/tags" Target="../tags/tag10.xml"/><Relationship Id="rId2" Type="http://schemas.openxmlformats.org/officeDocument/2006/relationships/image" Target="../media/image1.png"/><Relationship Id="rId19" Type="http://schemas.openxmlformats.org/officeDocument/2006/relationships/image" Target="../media/image10.png"/><Relationship Id="rId18" Type="http://schemas.openxmlformats.org/officeDocument/2006/relationships/tags" Target="../tags/tag9.xml"/><Relationship Id="rId17" Type="http://schemas.openxmlformats.org/officeDocument/2006/relationships/tags" Target="../tags/tag8.xml"/><Relationship Id="rId16" Type="http://schemas.openxmlformats.org/officeDocument/2006/relationships/image" Target="../media/image9.png"/><Relationship Id="rId15" Type="http://schemas.openxmlformats.org/officeDocument/2006/relationships/tags" Target="../tags/tag7.xml"/><Relationship Id="rId14" Type="http://schemas.openxmlformats.org/officeDocument/2006/relationships/tags" Target="../tags/tag6.xml"/><Relationship Id="rId13" Type="http://schemas.openxmlformats.org/officeDocument/2006/relationships/image" Target="../media/image8.png"/><Relationship Id="rId12" Type="http://schemas.openxmlformats.org/officeDocument/2006/relationships/tags" Target="../tags/tag5.xml"/><Relationship Id="rId11" Type="http://schemas.openxmlformats.org/officeDocument/2006/relationships/image" Target="../media/image7.png"/><Relationship Id="rId10" Type="http://schemas.openxmlformats.org/officeDocument/2006/relationships/tags" Target="../tags/tag4.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2" name="图片 141"/>
          <p:cNvPicPr>
            <a:picLocks noChangeAspect="1"/>
          </p:cNvPicPr>
          <p:nvPr>
            <p:custDataLst>
              <p:tags r:id="rId1"/>
            </p:custDataLst>
          </p:nvPr>
        </p:nvPicPr>
        <p:blipFill>
          <a:blip r:embed="rId2"/>
          <a:srcRect b="1467"/>
          <a:stretch>
            <a:fillRect/>
          </a:stretch>
        </p:blipFill>
        <p:spPr>
          <a:xfrm>
            <a:off x="25392199" y="21826238"/>
            <a:ext cx="3825156" cy="2695083"/>
          </a:xfrm>
          <a:prstGeom prst="rect">
            <a:avLst/>
          </a:prstGeom>
        </p:spPr>
      </p:pic>
      <p:sp>
        <p:nvSpPr>
          <p:cNvPr id="3" name="圆角矩形 2"/>
          <p:cNvSpPr/>
          <p:nvPr/>
        </p:nvSpPr>
        <p:spPr>
          <a:xfrm>
            <a:off x="953770" y="2639060"/>
            <a:ext cx="28263215" cy="4295775"/>
          </a:xfrm>
          <a:prstGeom prst="roundRect">
            <a:avLst/>
          </a:prstGeom>
          <a:solidFill>
            <a:srgbClr val="B3A1C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210"/>
          </a:p>
        </p:txBody>
      </p:sp>
      <p:sp>
        <p:nvSpPr>
          <p:cNvPr id="2052" name="矩形 2051"/>
          <p:cNvSpPr/>
          <p:nvPr/>
        </p:nvSpPr>
        <p:spPr>
          <a:xfrm>
            <a:off x="1151890" y="2900680"/>
            <a:ext cx="27753310" cy="3774440"/>
          </a:xfrm>
          <a:prstGeom prst="rect">
            <a:avLst/>
          </a:prstGeom>
          <a:solidFill>
            <a:srgbClr val="5F497A">
              <a:alpha val="94000"/>
            </a:srgbClr>
          </a:solidFill>
          <a:ln w="9525">
            <a:noFill/>
          </a:ln>
        </p:spPr>
        <p:txBody>
          <a:bodyPr lIns="126151" tIns="63074" rIns="126151" bIns="63074" anchor="ctr" anchorCtr="0"/>
          <a:lstStyle/>
          <a:p>
            <a:pPr algn="ctr" defTabSz="4704080">
              <a:lnSpc>
                <a:spcPct val="90000"/>
              </a:lnSpc>
            </a:pPr>
            <a:r>
              <a:rPr lang="en-US" altLang="zh-CN" sz="5825" b="1">
                <a:solidFill>
                  <a:schemeClr val="bg1"/>
                </a:solidFill>
                <a:latin typeface="Arial" panose="020B0604020202090204" pitchFamily="34" charset="0"/>
              </a:rPr>
              <a:t>Molecular Dynamics Simulation Study of the LCST Phase Transition Behavior of a Single PNVCL Chain in Aqueous Solution</a:t>
            </a:r>
            <a:endParaRPr lang="en-US" altLang="zh-CN" sz="5825" b="1">
              <a:solidFill>
                <a:schemeClr val="bg1"/>
              </a:solidFill>
              <a:latin typeface="Arial" panose="020B0604020202090204" pitchFamily="34" charset="0"/>
            </a:endParaRPr>
          </a:p>
          <a:p>
            <a:pPr algn="ctr" defTabSz="4704080">
              <a:lnSpc>
                <a:spcPct val="90000"/>
              </a:lnSpc>
            </a:pPr>
            <a:endParaRPr lang="en-US" altLang="zh-CN" sz="5885" b="1">
              <a:solidFill>
                <a:schemeClr val="bg1"/>
              </a:solidFill>
              <a:latin typeface="Arial" panose="020B0604020202090204" pitchFamily="34" charset="0"/>
            </a:endParaRPr>
          </a:p>
          <a:p>
            <a:pPr algn="ctr" defTabSz="4704080">
              <a:lnSpc>
                <a:spcPct val="90000"/>
              </a:lnSpc>
            </a:pPr>
            <a:r>
              <a:rPr lang="en-US" altLang="zh-CN" sz="3005" i="1">
                <a:solidFill>
                  <a:schemeClr val="bg1"/>
                </a:solidFill>
                <a:latin typeface="Arial" panose="020B0604020202090204" pitchFamily="34" charset="0"/>
              </a:rPr>
              <a:t>Xinyue Zhang，Mingge Zhao, Junhan Cho</a:t>
            </a:r>
            <a:endParaRPr lang="en-US" altLang="zh-CN" sz="3005" i="1">
              <a:solidFill>
                <a:schemeClr val="bg1"/>
              </a:solidFill>
              <a:latin typeface="Arial" panose="020B0604020202090204" pitchFamily="34" charset="0"/>
            </a:endParaRPr>
          </a:p>
          <a:p>
            <a:pPr algn="ctr" defTabSz="4704080">
              <a:lnSpc>
                <a:spcPct val="90000"/>
              </a:lnSpc>
            </a:pPr>
            <a:r>
              <a:rPr lang="en-US" altLang="zh-CN" sz="3005" i="1">
                <a:solidFill>
                  <a:schemeClr val="bg1"/>
                </a:solidFill>
                <a:latin typeface="Arial" panose="020B0604020202090204" pitchFamily="34" charset="0"/>
              </a:rPr>
              <a:t>* Department of Polymer Science and Engineering, Dankook University</a:t>
            </a:r>
            <a:endParaRPr lang="en-US" altLang="zh-CN" sz="3005" i="1">
              <a:solidFill>
                <a:schemeClr val="bg1"/>
              </a:solidFill>
              <a:latin typeface="Arial" panose="020B0604020202090204" pitchFamily="34" charset="0"/>
            </a:endParaRPr>
          </a:p>
          <a:p>
            <a:pPr algn="ctr" defTabSz="4704080">
              <a:lnSpc>
                <a:spcPct val="90000"/>
              </a:lnSpc>
            </a:pPr>
            <a:r>
              <a:rPr lang="en-US" altLang="zh-CN" sz="3005" i="1">
                <a:solidFill>
                  <a:schemeClr val="bg1"/>
                </a:solidFill>
                <a:latin typeface="Arial" panose="020B0604020202090204" pitchFamily="34" charset="0"/>
              </a:rPr>
              <a:t>*Correspondence: jhcho@dankook.ac.kr</a:t>
            </a:r>
            <a:endParaRPr lang="en-US" altLang="zh-CN" sz="3005" i="1">
              <a:solidFill>
                <a:schemeClr val="bg1"/>
              </a:solidFill>
              <a:latin typeface="Arial" panose="020B0604020202090204" pitchFamily="34" charset="0"/>
            </a:endParaRPr>
          </a:p>
        </p:txBody>
      </p:sp>
      <p:sp>
        <p:nvSpPr>
          <p:cNvPr id="2053" name="矩形 2052"/>
          <p:cNvSpPr/>
          <p:nvPr/>
        </p:nvSpPr>
        <p:spPr>
          <a:xfrm>
            <a:off x="968087" y="7186311"/>
            <a:ext cx="4431008" cy="1011453"/>
          </a:xfrm>
          <a:prstGeom prst="rect">
            <a:avLst/>
          </a:prstGeom>
          <a:solidFill>
            <a:srgbClr val="8063A1">
              <a:alpha val="94000"/>
            </a:srgbClr>
          </a:solidFill>
          <a:ln w="9525">
            <a:noFill/>
          </a:ln>
        </p:spPr>
        <p:txBody>
          <a:bodyPr wrap="none" lIns="126151" tIns="63074" rIns="126151" bIns="63074" anchor="ctr" anchorCtr="0"/>
          <a:lstStyle/>
          <a:p>
            <a:pPr algn="ctr" defTabSz="4704080"/>
            <a:r>
              <a:rPr lang="en-US" altLang="zh-CN" sz="4110" b="1">
                <a:solidFill>
                  <a:schemeClr val="bg1"/>
                </a:solidFill>
                <a:latin typeface="Arial" panose="020B0604020202090204" pitchFamily="34" charset="0"/>
              </a:rPr>
              <a:t>Abstract</a:t>
            </a:r>
            <a:endParaRPr lang="en-US" altLang="zh-CN" sz="4110" b="1">
              <a:solidFill>
                <a:schemeClr val="bg1"/>
              </a:solidFill>
              <a:latin typeface="Arial" panose="020B0604020202090204" pitchFamily="34" charset="0"/>
            </a:endParaRPr>
          </a:p>
        </p:txBody>
      </p:sp>
      <p:sp>
        <p:nvSpPr>
          <p:cNvPr id="2055" name="矩形 2054"/>
          <p:cNvSpPr/>
          <p:nvPr/>
        </p:nvSpPr>
        <p:spPr>
          <a:xfrm>
            <a:off x="969363" y="17654152"/>
            <a:ext cx="4459068" cy="1011453"/>
          </a:xfrm>
          <a:prstGeom prst="rect">
            <a:avLst/>
          </a:prstGeom>
          <a:solidFill>
            <a:srgbClr val="876CA7">
              <a:alpha val="94000"/>
            </a:srgbClr>
          </a:solidFill>
          <a:ln w="9525">
            <a:noFill/>
          </a:ln>
        </p:spPr>
        <p:txBody>
          <a:bodyPr wrap="none" lIns="126151" tIns="63074" rIns="126151" bIns="63074" anchor="ctr" anchorCtr="0"/>
          <a:lstStyle/>
          <a:p>
            <a:pPr algn="ctr" defTabSz="4704080"/>
            <a:r>
              <a:rPr lang="en-US" altLang="zh-CN" sz="4110" b="1">
                <a:solidFill>
                  <a:schemeClr val="bg1"/>
                </a:solidFill>
                <a:latin typeface="Arial" panose="020B0604020202090204" pitchFamily="34" charset="0"/>
              </a:rPr>
              <a:t>Introduction</a:t>
            </a:r>
            <a:endParaRPr lang="en-US" altLang="zh-CN" sz="4110" b="1">
              <a:solidFill>
                <a:schemeClr val="bg1"/>
              </a:solidFill>
              <a:latin typeface="Arial" panose="020B0604020202090204" pitchFamily="34" charset="0"/>
            </a:endParaRPr>
          </a:p>
        </p:txBody>
      </p:sp>
      <p:sp>
        <p:nvSpPr>
          <p:cNvPr id="2056" name="文本框 2055"/>
          <p:cNvSpPr txBox="1"/>
          <p:nvPr/>
        </p:nvSpPr>
        <p:spPr>
          <a:xfrm>
            <a:off x="15372051" y="35653686"/>
            <a:ext cx="13606790" cy="4457793"/>
          </a:xfrm>
          <a:prstGeom prst="rect">
            <a:avLst/>
          </a:prstGeom>
          <a:noFill/>
          <a:ln w="9525">
            <a:noFill/>
          </a:ln>
        </p:spPr>
        <p:txBody>
          <a:bodyPr wrap="square" lIns="126151" tIns="63074" rIns="126151" bIns="63074">
            <a:noAutofit/>
          </a:bodyPr>
          <a:lstStyle/>
          <a:p>
            <a:pPr marL="285750" indent="-285750" algn="just" defTabSz="4704080">
              <a:spcBef>
                <a:spcPct val="50000"/>
              </a:spcBef>
              <a:buFont typeface="Arial" panose="020B0604020202090204" pitchFamily="34" charset="0"/>
              <a:buChar char="•"/>
            </a:pPr>
            <a:r>
              <a:rPr sz="2810">
                <a:latin typeface="+mj-ea"/>
                <a:ea typeface="Batang" panose="02030600000101010101" charset="-127"/>
                <a:cs typeface="+mj-ea"/>
              </a:rPr>
              <a:t>Light scattering results confirmed that phase separation occurs in PNVCL aqueous solution at approximately 32.1 °C.</a:t>
            </a:r>
            <a:endParaRPr sz="2810">
              <a:latin typeface="+mj-ea"/>
              <a:ea typeface="Batang" panose="02030600000101010101" charset="-127"/>
              <a:cs typeface="+mj-ea"/>
            </a:endParaRPr>
          </a:p>
          <a:p>
            <a:pPr marL="285750" indent="-285750" algn="just" defTabSz="4704080">
              <a:spcBef>
                <a:spcPct val="50000"/>
              </a:spcBef>
              <a:buFont typeface="Arial" panose="020B0604020202090204" pitchFamily="34" charset="0"/>
              <a:buChar char="•"/>
            </a:pPr>
            <a:r>
              <a:rPr sz="2810">
                <a:latin typeface="+mj-ea"/>
                <a:ea typeface="Batang" panose="02030600000101010101" charset="-127"/>
                <a:cs typeface="+mj-ea"/>
              </a:rPr>
              <a:t>Structural analysis using Rg and RDF showed that PNVCL transitions from an extended to a globular conformation around 305 K, which is consistent with the light scattering results.</a:t>
            </a:r>
            <a:endParaRPr sz="2810">
              <a:latin typeface="+mj-ea"/>
              <a:ea typeface="Batang" panose="02030600000101010101" charset="-127"/>
              <a:cs typeface="+mj-ea"/>
            </a:endParaRPr>
          </a:p>
          <a:p>
            <a:pPr marL="285750" indent="-285750" algn="just" defTabSz="4704080">
              <a:spcBef>
                <a:spcPct val="50000"/>
              </a:spcBef>
              <a:buFont typeface="Arial" panose="020B0604020202090204" pitchFamily="34" charset="0"/>
              <a:buChar char="•"/>
            </a:pPr>
            <a:r>
              <a:rPr lang="en-US" altLang="zh-CN" sz="2810" dirty="0">
                <a:latin typeface="+mj-ea"/>
                <a:ea typeface="Batang" panose="02030600000101010101" charset="-127"/>
                <a:cs typeface="+mj-ea"/>
              </a:rPr>
              <a:t>RDF analysis revealed that hydrogen bonding between PNVCL and water molecules, as well as between water molecules themselves, decreases with increasing temperature. This supports the conclusion that hydrogen bonding plays a key role in the phase separation behavior.</a:t>
            </a:r>
            <a:endParaRPr lang="en-US" altLang="zh-CN" sz="2810" dirty="0">
              <a:latin typeface="+mj-ea"/>
              <a:ea typeface="Batang" panose="02030600000101010101" charset="-127"/>
              <a:cs typeface="+mj-ea"/>
            </a:endParaRPr>
          </a:p>
        </p:txBody>
      </p:sp>
      <p:sp>
        <p:nvSpPr>
          <p:cNvPr id="2058" name="矩形 2057"/>
          <p:cNvSpPr/>
          <p:nvPr>
            <p:custDataLst>
              <p:tags r:id="rId3"/>
            </p:custDataLst>
          </p:nvPr>
        </p:nvSpPr>
        <p:spPr>
          <a:xfrm>
            <a:off x="15451103" y="13767773"/>
            <a:ext cx="6774059" cy="1011453"/>
          </a:xfrm>
          <a:prstGeom prst="rect">
            <a:avLst/>
          </a:prstGeom>
          <a:solidFill>
            <a:srgbClr val="8E75AC"/>
          </a:solidFill>
          <a:ln w="9525">
            <a:noFill/>
          </a:ln>
        </p:spPr>
        <p:txBody>
          <a:bodyPr wrap="none" lIns="126151" tIns="63074" rIns="126151" bIns="63074" anchor="ctr" anchorCtr="0"/>
          <a:lstStyle/>
          <a:p>
            <a:pPr algn="ctr" defTabSz="4704080"/>
            <a:r>
              <a:rPr lang="en-US" altLang="zh-CN" sz="4110" b="1">
                <a:solidFill>
                  <a:schemeClr val="bg1"/>
                </a:solidFill>
                <a:latin typeface="Arial" panose="020B0604020202090204" pitchFamily="34" charset="0"/>
              </a:rPr>
              <a:t>Results and Discussion</a:t>
            </a:r>
            <a:endParaRPr lang="en-US" altLang="zh-CN" sz="4110" b="1">
              <a:solidFill>
                <a:schemeClr val="bg1"/>
              </a:solidFill>
              <a:latin typeface="Arial" panose="020B0604020202090204" pitchFamily="34" charset="0"/>
            </a:endParaRPr>
          </a:p>
        </p:txBody>
      </p:sp>
      <p:sp>
        <p:nvSpPr>
          <p:cNvPr id="2059" name="矩形 2058"/>
          <p:cNvSpPr/>
          <p:nvPr/>
        </p:nvSpPr>
        <p:spPr>
          <a:xfrm>
            <a:off x="15467191" y="34450183"/>
            <a:ext cx="5075124" cy="977016"/>
          </a:xfrm>
          <a:prstGeom prst="rect">
            <a:avLst/>
          </a:prstGeom>
          <a:solidFill>
            <a:srgbClr val="8E75AC"/>
          </a:solidFill>
          <a:ln w="9525">
            <a:noFill/>
          </a:ln>
        </p:spPr>
        <p:txBody>
          <a:bodyPr wrap="none" lIns="126151" tIns="63074" rIns="126151" bIns="63074" anchor="ctr" anchorCtr="0"/>
          <a:lstStyle/>
          <a:p>
            <a:pPr algn="ctr" defTabSz="4704080"/>
            <a:r>
              <a:rPr lang="en-US" altLang="zh-CN" sz="4110" b="1">
                <a:solidFill>
                  <a:schemeClr val="bg1"/>
                </a:solidFill>
                <a:latin typeface="Arial" panose="020B0604020202090204" pitchFamily="34" charset="0"/>
              </a:rPr>
              <a:t>Conclusion</a:t>
            </a:r>
            <a:endParaRPr lang="en-US" altLang="zh-CN" sz="4110" b="1">
              <a:solidFill>
                <a:schemeClr val="bg1"/>
              </a:solidFill>
              <a:latin typeface="Arial" panose="020B0604020202090204" pitchFamily="34" charset="0"/>
            </a:endParaRPr>
          </a:p>
        </p:txBody>
      </p:sp>
      <p:sp>
        <p:nvSpPr>
          <p:cNvPr id="2061" name="矩形 2060"/>
          <p:cNvSpPr/>
          <p:nvPr/>
        </p:nvSpPr>
        <p:spPr>
          <a:xfrm>
            <a:off x="969363" y="33206045"/>
            <a:ext cx="4460344" cy="975740"/>
          </a:xfrm>
          <a:prstGeom prst="rect">
            <a:avLst/>
          </a:prstGeom>
          <a:solidFill>
            <a:srgbClr val="8E75AC"/>
          </a:solidFill>
          <a:ln w="9525">
            <a:noFill/>
          </a:ln>
        </p:spPr>
        <p:txBody>
          <a:bodyPr wrap="none" lIns="126151" tIns="63074" rIns="126151" bIns="63074" anchor="ctr" anchorCtr="0"/>
          <a:lstStyle/>
          <a:p>
            <a:pPr algn="ctr" defTabSz="4704080"/>
            <a:r>
              <a:rPr lang="en-US" altLang="zh-CN" sz="4120" b="1">
                <a:solidFill>
                  <a:schemeClr val="bg1"/>
                </a:solidFill>
                <a:latin typeface="Arial" panose="020B0604020202090204" pitchFamily="34" charset="0"/>
              </a:rPr>
              <a:t>Theory</a:t>
            </a:r>
            <a:endParaRPr lang="en-US" altLang="zh-CN" sz="4120" b="1">
              <a:solidFill>
                <a:schemeClr val="bg1"/>
              </a:solidFill>
              <a:latin typeface="Arial" panose="020B0604020202090204" pitchFamily="34" charset="0"/>
            </a:endParaRPr>
          </a:p>
        </p:txBody>
      </p:sp>
      <p:pic>
        <p:nvPicPr>
          <p:cNvPr id="5" name="Picture 10"/>
          <p:cNvPicPr>
            <a:picLocks noChangeAspect="1" noChangeArrowheads="1"/>
          </p:cNvPicPr>
          <p:nvPr/>
        </p:nvPicPr>
        <p:blipFill>
          <a:blip r:embed="rId4" cstate="print"/>
          <a:srcRect/>
          <a:stretch>
            <a:fillRect/>
          </a:stretch>
        </p:blipFill>
        <p:spPr bwMode="auto">
          <a:xfrm>
            <a:off x="1269365" y="1379220"/>
            <a:ext cx="2919730" cy="12280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文本框 1"/>
          <p:cNvSpPr txBox="1"/>
          <p:nvPr/>
        </p:nvSpPr>
        <p:spPr>
          <a:xfrm>
            <a:off x="968087" y="8563827"/>
            <a:ext cx="13794285" cy="8788400"/>
          </a:xfrm>
          <a:prstGeom prst="rect">
            <a:avLst/>
          </a:prstGeom>
          <a:noFill/>
          <a:ln w="9525">
            <a:noFill/>
          </a:ln>
        </p:spPr>
        <p:txBody>
          <a:bodyPr wrap="square" lIns="126151" tIns="63074" rIns="126151" bIns="63074">
            <a:spAutoFit/>
          </a:bodyPr>
          <a:lstStyle/>
          <a:p>
            <a:pPr algn="just" defTabSz="4704080">
              <a:spcBef>
                <a:spcPct val="50000"/>
              </a:spcBef>
            </a:pPr>
            <a:r>
              <a:rPr lang="en-US" altLang="zh-CN" sz="3015">
                <a:ea typeface="Batang" panose="02030600000101010101" charset="-127"/>
              </a:rPr>
              <a:t>   </a:t>
            </a:r>
            <a:r>
              <a:rPr lang="en-US" altLang="zh-CN" sz="3215">
                <a:ea typeface="Batang" panose="02030600000101010101" charset="-127"/>
              </a:rPr>
              <a:t>This study investigates the temperature-dependent LCST phase behavior of a single poly(N-vinylcaprolactam) (PNVCL) chain in aqueous solution using molecular dynamics (MD) simulations. As a thermoresponsive polymer, PNVCL is widely applied in biomedical and smart material fields, with its LCST behavior being especially relevant near physiological temperatures.</a:t>
            </a:r>
            <a:endParaRPr lang="en-US" altLang="zh-CN" sz="3215">
              <a:ea typeface="Batang" panose="02030600000101010101" charset="-127"/>
            </a:endParaRPr>
          </a:p>
          <a:p>
            <a:pPr algn="just" defTabSz="4704080">
              <a:spcBef>
                <a:spcPct val="50000"/>
              </a:spcBef>
            </a:pPr>
            <a:r>
              <a:rPr lang="en-US" altLang="zh-CN" sz="3215">
                <a:ea typeface="Batang" panose="02030600000101010101" charset="-127"/>
              </a:rPr>
              <a:t>  MD simulations were performed using the OPLS-5 force field with temperature intervals of 10 K. Structural changes and phase behavior were analyzed through radius of gyration (Rg), hydrogen bonding, and radial distribution functions (RDF). Visual analysis further revealed temperature-driven interactions between PNVCL and water molecules.</a:t>
            </a:r>
            <a:endParaRPr lang="en-US" altLang="zh-CN" sz="3215">
              <a:ea typeface="Batang" panose="02030600000101010101" charset="-127"/>
            </a:endParaRPr>
          </a:p>
          <a:p>
            <a:pPr algn="just" defTabSz="4704080">
              <a:spcBef>
                <a:spcPct val="50000"/>
              </a:spcBef>
            </a:pPr>
            <a:r>
              <a:rPr lang="en-US" altLang="zh-CN" sz="3215">
                <a:ea typeface="Batang" panose="02030600000101010101" charset="-127"/>
              </a:rPr>
              <a:t>  These findings provide insights into the microscopic mechanism of PNVCL’s phase transition and offer theoretical support for its practical applications.</a:t>
            </a:r>
            <a:endParaRPr lang="en-US" altLang="zh-CN" sz="3215">
              <a:ea typeface="Batang" panose="02030600000101010101" charset="-127"/>
            </a:endParaRPr>
          </a:p>
          <a:p>
            <a:pPr algn="just" defTabSz="4704080">
              <a:spcBef>
                <a:spcPct val="50000"/>
              </a:spcBef>
            </a:pPr>
            <a:r>
              <a:rPr lang="en-US" altLang="zh-CN" sz="3215">
                <a:ea typeface="Batang" panose="02030600000101010101" charset="-127"/>
                <a:cs typeface="Arial" panose="020B0604020202090204" pitchFamily="34" charset="0"/>
              </a:rPr>
              <a:t>Keywords: PNVCL, Phase Behavior, Simulation, Molecular Dynamics，Lower Critical Solution Temperature, Molecular dynamics simulation</a:t>
            </a:r>
            <a:endParaRPr lang="en-US" altLang="zh-CN" sz="3215">
              <a:ea typeface="Batang" panose="02030600000101010101" charset="-127"/>
              <a:cs typeface="Arial" panose="020B0604020202090204" pitchFamily="34" charset="0"/>
            </a:endParaRPr>
          </a:p>
        </p:txBody>
      </p:sp>
      <p:sp>
        <p:nvSpPr>
          <p:cNvPr id="4" name="矩形 3"/>
          <p:cNvSpPr/>
          <p:nvPr/>
        </p:nvSpPr>
        <p:spPr>
          <a:xfrm>
            <a:off x="968375" y="8361045"/>
            <a:ext cx="13811250" cy="9049385"/>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cxnSp>
        <p:nvCxnSpPr>
          <p:cNvPr id="17" name="直接连接符 16"/>
          <p:cNvCxnSpPr/>
          <p:nvPr/>
        </p:nvCxnSpPr>
        <p:spPr>
          <a:xfrm flipH="1">
            <a:off x="15091446" y="6935042"/>
            <a:ext cx="1275" cy="33464694"/>
          </a:xfrm>
          <a:prstGeom prst="line">
            <a:avLst/>
          </a:prstGeom>
          <a:ln w="3175" cmpd="sng">
            <a:solidFill>
              <a:schemeClr val="accent2">
                <a:lumMod val="20000"/>
                <a:lumOff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67" name="TextBox 239"/>
          <p:cNvSpPr txBox="1"/>
          <p:nvPr/>
        </p:nvSpPr>
        <p:spPr>
          <a:xfrm>
            <a:off x="1248692" y="19124777"/>
            <a:ext cx="14926909" cy="586105"/>
          </a:xfrm>
          <a:prstGeom prst="rect">
            <a:avLst/>
          </a:prstGeom>
          <a:noFill/>
        </p:spPr>
        <p:txBody>
          <a:bodyPr wrap="square" rtlCol="0">
            <a:spAutoFit/>
          </a:bodyPr>
          <a:lstStyle/>
          <a:p>
            <a:pPr marL="342900" indent="-342900">
              <a:buFont typeface="Wingdings" panose="05000000000000000000" charset="0"/>
              <a:buChar char="Ø"/>
            </a:pPr>
            <a:r>
              <a:rPr lang="en-US" altLang="ko-KR" sz="3215" b="1" dirty="0">
                <a:solidFill>
                  <a:schemeClr val="tx1"/>
                </a:solidFill>
                <a:cs typeface="Times New Roman" panose="02020503050405090304" pitchFamily="18" charset="0"/>
              </a:rPr>
              <a:t>Introduction to  Molecular Dynamics(MD) Simulation </a:t>
            </a:r>
            <a:endParaRPr lang="en-US" altLang="ko-KR" sz="3215" b="1" dirty="0">
              <a:solidFill>
                <a:schemeClr val="tx1"/>
              </a:solidFill>
              <a:cs typeface="Times New Roman" panose="02020503050405090304" pitchFamily="18" charset="0"/>
            </a:endParaRPr>
          </a:p>
        </p:txBody>
      </p:sp>
      <p:sp>
        <p:nvSpPr>
          <p:cNvPr id="36" name="TextBox 239"/>
          <p:cNvSpPr txBox="1"/>
          <p:nvPr/>
        </p:nvSpPr>
        <p:spPr>
          <a:xfrm>
            <a:off x="15581229" y="8716884"/>
            <a:ext cx="10781608" cy="586105"/>
          </a:xfrm>
          <a:prstGeom prst="rect">
            <a:avLst/>
          </a:prstGeom>
          <a:noFill/>
        </p:spPr>
        <p:txBody>
          <a:bodyPr wrap="square" rtlCol="0">
            <a:spAutoFit/>
          </a:bodyPr>
          <a:lstStyle/>
          <a:p>
            <a:pPr marL="342900" indent="-342900">
              <a:buFont typeface="Wingdings" panose="05000000000000000000" charset="0"/>
              <a:buChar char="Ø"/>
            </a:pPr>
            <a:r>
              <a:rPr lang="en-US" altLang="ko-KR" sz="3215" b="1" dirty="0">
                <a:solidFill>
                  <a:schemeClr val="tx1"/>
                </a:solidFill>
                <a:cs typeface="Times New Roman" panose="02020503050405090304" pitchFamily="18" charset="0"/>
              </a:rPr>
              <a:t>Flory-Hggins Theory ---(type1)</a:t>
            </a:r>
            <a:endParaRPr lang="en-US" altLang="ko-KR" sz="3215" b="1" dirty="0">
              <a:solidFill>
                <a:schemeClr val="tx1"/>
              </a:solidFill>
              <a:cs typeface="Times New Roman" panose="02020503050405090304" pitchFamily="18" charset="0"/>
            </a:endParaRPr>
          </a:p>
        </p:txBody>
      </p:sp>
      <p:sp>
        <p:nvSpPr>
          <p:cNvPr id="95" name="矩形 94"/>
          <p:cNvSpPr/>
          <p:nvPr/>
        </p:nvSpPr>
        <p:spPr>
          <a:xfrm>
            <a:off x="968375" y="18818860"/>
            <a:ext cx="13794105" cy="14157960"/>
          </a:xfrm>
          <a:prstGeom prst="rect">
            <a:avLst/>
          </a:prstGeom>
          <a:noFill/>
          <a:ln>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sp>
        <p:nvSpPr>
          <p:cNvPr id="96" name="矩形 95"/>
          <p:cNvSpPr/>
          <p:nvPr/>
        </p:nvSpPr>
        <p:spPr>
          <a:xfrm>
            <a:off x="953770" y="34330005"/>
            <a:ext cx="13825855" cy="5909310"/>
          </a:xfrm>
          <a:prstGeom prst="rect">
            <a:avLst/>
          </a:prstGeom>
          <a:noFill/>
          <a:ln>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sp>
        <p:nvSpPr>
          <p:cNvPr id="97" name="矩形 96"/>
          <p:cNvSpPr/>
          <p:nvPr/>
        </p:nvSpPr>
        <p:spPr>
          <a:xfrm>
            <a:off x="15466695" y="8477885"/>
            <a:ext cx="13775055" cy="5040630"/>
          </a:xfrm>
          <a:prstGeom prst="rect">
            <a:avLst/>
          </a:prstGeom>
          <a:noFill/>
          <a:ln>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sp>
        <p:nvSpPr>
          <p:cNvPr id="98" name="矩形 97"/>
          <p:cNvSpPr/>
          <p:nvPr/>
        </p:nvSpPr>
        <p:spPr>
          <a:xfrm>
            <a:off x="953770" y="40478710"/>
            <a:ext cx="28287980" cy="920115"/>
          </a:xfrm>
          <a:prstGeom prst="rect">
            <a:avLst/>
          </a:prstGeom>
          <a:solidFill>
            <a:srgbClr val="8E75AC"/>
          </a:solidFill>
          <a:ln w="9525">
            <a:noFill/>
          </a:ln>
        </p:spPr>
        <p:txBody>
          <a:bodyPr wrap="none" lIns="126151" tIns="63074" rIns="126151" bIns="63074" anchor="ctr" anchorCtr="0"/>
          <a:lstStyle/>
          <a:p>
            <a:pPr algn="ctr" defTabSz="4704080"/>
            <a:r>
              <a:rPr lang="en-US" altLang="zh-CN" sz="2410" b="1">
                <a:solidFill>
                  <a:schemeClr val="bg1"/>
                </a:solidFill>
                <a:latin typeface="Arial" panose="020B0604020202090204" pitchFamily="34" charset="0"/>
              </a:rPr>
              <a:t>Acknowledgment: National Research Foundation of Korea (Basic Science Research Program)</a:t>
            </a:r>
            <a:r>
              <a:rPr lang="en-US" altLang="zh-CN" sz="4110" b="1">
                <a:solidFill>
                  <a:schemeClr val="bg1"/>
                </a:solidFill>
                <a:latin typeface="Arial" panose="020B0604020202090204" pitchFamily="34" charset="0"/>
              </a:rPr>
              <a:t>  </a:t>
            </a:r>
            <a:endParaRPr lang="en-US" altLang="zh-CN" sz="4110" b="1">
              <a:solidFill>
                <a:schemeClr val="bg1"/>
              </a:solidFill>
              <a:latin typeface="Arial" panose="020B0604020202090204" pitchFamily="34" charset="0"/>
            </a:endParaRPr>
          </a:p>
        </p:txBody>
      </p:sp>
      <p:sp>
        <p:nvSpPr>
          <p:cNvPr id="99" name="矩形 98"/>
          <p:cNvSpPr/>
          <p:nvPr/>
        </p:nvSpPr>
        <p:spPr>
          <a:xfrm>
            <a:off x="15467330" y="35575875"/>
            <a:ext cx="13717270" cy="4662805"/>
          </a:xfrm>
          <a:prstGeom prst="rect">
            <a:avLst/>
          </a:prstGeom>
          <a:noFill/>
          <a:ln>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sp>
        <p:nvSpPr>
          <p:cNvPr id="102" name="矩形 101"/>
          <p:cNvSpPr/>
          <p:nvPr/>
        </p:nvSpPr>
        <p:spPr>
          <a:xfrm>
            <a:off x="15466695" y="14983460"/>
            <a:ext cx="13765530" cy="19272250"/>
          </a:xfrm>
          <a:prstGeom prst="rect">
            <a:avLst/>
          </a:prstGeom>
          <a:noFill/>
          <a:ln>
            <a:solidFill>
              <a:schemeClr val="accent2">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40"/>
          </a:p>
        </p:txBody>
      </p:sp>
      <p:sp>
        <p:nvSpPr>
          <p:cNvPr id="116" name="TextBox 239"/>
          <p:cNvSpPr txBox="1"/>
          <p:nvPr/>
        </p:nvSpPr>
        <p:spPr>
          <a:xfrm>
            <a:off x="1057371" y="26318469"/>
            <a:ext cx="12735639" cy="586105"/>
          </a:xfrm>
          <a:prstGeom prst="rect">
            <a:avLst/>
          </a:prstGeom>
          <a:noFill/>
        </p:spPr>
        <p:txBody>
          <a:bodyPr wrap="square" rtlCol="0">
            <a:spAutoFit/>
          </a:bodyPr>
          <a:p>
            <a:pPr marL="342900" indent="-342900">
              <a:buFont typeface="Wingdings" panose="05000000000000000000" charset="0"/>
              <a:buChar char="Ø"/>
            </a:pPr>
            <a:r>
              <a:rPr lang="en-US" altLang="ko-KR" sz="3215" b="1" dirty="0">
                <a:solidFill>
                  <a:schemeClr val="tx1"/>
                </a:solidFill>
                <a:cs typeface="Times New Roman" panose="02020503050405090304" pitchFamily="18" charset="0"/>
              </a:rPr>
              <a:t>Introduction of Poly(N-vinyl caprolactam)</a:t>
            </a:r>
            <a:endParaRPr lang="en-US" altLang="ko-KR" sz="3215" b="1" dirty="0">
              <a:solidFill>
                <a:schemeClr val="tx1"/>
              </a:solidFill>
              <a:cs typeface="Times New Roman" panose="02020503050405090304" pitchFamily="18" charset="0"/>
            </a:endParaRPr>
          </a:p>
        </p:txBody>
      </p:sp>
      <p:sp>
        <p:nvSpPr>
          <p:cNvPr id="117" name="右箭头 116"/>
          <p:cNvSpPr/>
          <p:nvPr/>
        </p:nvSpPr>
        <p:spPr>
          <a:xfrm>
            <a:off x="6969207" y="29712513"/>
            <a:ext cx="1224458" cy="612229"/>
          </a:xfrm>
          <a:prstGeom prst="rightArrow">
            <a:avLst/>
          </a:prstGeom>
          <a:solidFill>
            <a:srgbClr val="876CA7"/>
          </a:solidFill>
          <a:ln>
            <a:solidFill>
              <a:srgbClr val="876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40"/>
          </a:p>
        </p:txBody>
      </p:sp>
      <mc:AlternateContent xmlns:mc="http://schemas.openxmlformats.org/markup-compatibility/2006">
        <mc:Choice xmlns:a14="http://schemas.microsoft.com/office/drawing/2010/main" Requires="a14">
          <p:sp>
            <p:nvSpPr>
              <p:cNvPr id="126" name="文本框 125"/>
              <p:cNvSpPr txBox="1"/>
              <p:nvPr/>
            </p:nvSpPr>
            <p:spPr>
              <a:xfrm>
                <a:off x="15751378" y="9837266"/>
                <a:ext cx="8843010" cy="105219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sz="3215" i="1">
                          <a:latin typeface="DejaVu Math TeX Gyre" panose="02000503000000000000" charset="0"/>
                          <a:cs typeface="DejaVu Math TeX Gyre" panose="02000503000000000000" charset="0"/>
                        </a:rPr>
                        <m:t>𝑓</m:t>
                      </m:r>
                      <m:r>
                        <a:rPr lang="en-US" altLang="zh-CN" sz="3215" i="1">
                          <a:latin typeface="DejaVu Math TeX Gyre" panose="02000503000000000000" charset="0"/>
                          <a:cs typeface="DejaVu Math TeX Gyre" panose="02000503000000000000" charset="0"/>
                        </a:rPr>
                        <m:t>=</m:t>
                      </m:r>
                      <m:f>
                        <m:fPr>
                          <m:ctrlPr>
                            <a:rPr lang="en-US" altLang="zh-CN" sz="3215" i="1">
                              <a:latin typeface="DejaVu Math TeX Gyre" panose="02000503000000000000" charset="0"/>
                              <a:cs typeface="DejaVu Math TeX Gyre" panose="02000503000000000000" charset="0"/>
                            </a:rPr>
                          </m:ctrlPr>
                        </m:fPr>
                        <m:num>
                          <m:r>
                            <a:rPr lang="en-US" altLang="zh-CN" sz="3215" i="1">
                              <a:latin typeface="DejaVu Math TeX Gyre" panose="02000503000000000000" charset="0"/>
                              <a:cs typeface="DejaVu Math TeX Gyre" panose="02000503000000000000" charset="0"/>
                            </a:rPr>
                            <m:t>𝜙</m:t>
                          </m:r>
                        </m:num>
                        <m:den>
                          <m:r>
                            <a:rPr lang="en-US" altLang="zh-CN" sz="3215" i="1">
                              <a:latin typeface="DejaVu Math TeX Gyre" panose="02000503000000000000" charset="0"/>
                              <a:cs typeface="DejaVu Math TeX Gyre" panose="02000503000000000000" charset="0"/>
                            </a:rPr>
                            <m:t>𝑁</m:t>
                          </m:r>
                        </m:den>
                      </m:f>
                      <m:r>
                        <a:rPr lang="en-US" altLang="zh-CN" sz="3215" i="1">
                          <a:latin typeface="DejaVu Math TeX Gyre" panose="02000503000000000000" charset="0"/>
                          <a:cs typeface="DejaVu Math TeX Gyre" panose="02000503000000000000" charset="0"/>
                        </a:rPr>
                        <m:t>𝑙𝑛</m:t>
                      </m:r>
                      <m:r>
                        <a:rPr lang="en-US" altLang="zh-CN" sz="3215" i="1">
                          <a:latin typeface="DejaVu Math TeX Gyre" panose="02000503000000000000" charset="0"/>
                          <a:cs typeface="DejaVu Math TeX Gyre" panose="02000503000000000000" charset="0"/>
                        </a:rPr>
                        <m:t>𝜙</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1</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𝜙</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𝑙𝑛</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1</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𝜙</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𝜒𝜙</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1</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𝜙</m:t>
                      </m:r>
                      <m:r>
                        <a:rPr lang="en-US" altLang="zh-CN" sz="3215" i="1">
                          <a:latin typeface="DejaVu Math TeX Gyre" panose="02000503000000000000" charset="0"/>
                          <a:cs typeface="DejaVu Math TeX Gyre" panose="02000503000000000000" charset="0"/>
                        </a:rPr>
                        <m:t>)</m:t>
                      </m:r>
                    </m:oMath>
                  </m:oMathPara>
                </a14:m>
                <a:endParaRPr lang="en-US" altLang="zh-CN" sz="3215"/>
              </a:p>
            </p:txBody>
          </p:sp>
        </mc:Choice>
        <mc:Fallback>
          <p:sp>
            <p:nvSpPr>
              <p:cNvPr id="126" name="文本框 125"/>
              <p:cNvSpPr txBox="1">
                <a:spLocks noRot="1" noChangeAspect="1" noMove="1" noResize="1" noEditPoints="1" noAdjustHandles="1" noChangeArrowheads="1" noChangeShapeType="1" noTextEdit="1"/>
              </p:cNvSpPr>
              <p:nvPr/>
            </p:nvSpPr>
            <p:spPr>
              <a:xfrm>
                <a:off x="15751378" y="9837266"/>
                <a:ext cx="8843010" cy="1052195"/>
              </a:xfrm>
              <a:prstGeom prst="rect">
                <a:avLst/>
              </a:prstGeom>
              <a:blipFill rotWithShape="1">
                <a:blip r:embed="rId5"/>
                <a:stretch>
                  <a:fillRect l="-2" t="-46" r="2"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7" name="文本框 126"/>
              <p:cNvSpPr txBox="1"/>
              <p:nvPr/>
            </p:nvSpPr>
            <p:spPr>
              <a:xfrm>
                <a:off x="15823478" y="11406929"/>
                <a:ext cx="5108575" cy="112331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sz="3215" i="1">
                              <a:latin typeface="DejaVu Math TeX Gyre" panose="02000503000000000000" charset="0"/>
                              <a:cs typeface="DejaVu Math TeX Gyre" panose="02000503000000000000" charset="0"/>
                            </a:rPr>
                          </m:ctrlPr>
                        </m:sSupPr>
                        <m:e>
                          <m:r>
                            <a:rPr lang="en-US" altLang="zh-CN" sz="3215" i="1">
                              <a:latin typeface="DejaVu Math TeX Gyre" panose="02000503000000000000" charset="0"/>
                              <a:cs typeface="DejaVu Math TeX Gyre" panose="02000503000000000000" charset="0"/>
                            </a:rPr>
                            <m:t>𝑓</m:t>
                          </m:r>
                        </m:e>
                        <m:sup>
                          <m:r>
                            <a:rPr lang="en-US" altLang="zh-CN" sz="3215" i="1">
                              <a:latin typeface="DejaVu Math TeX Gyre" panose="02000503000000000000" charset="0"/>
                              <a:cs typeface="DejaVu Math TeX Gyre" panose="02000503000000000000" charset="0"/>
                            </a:rPr>
                            <m:t>’’</m:t>
                          </m:r>
                        </m:sup>
                      </m:sSup>
                      <m:r>
                        <a:rPr lang="en-US" altLang="zh-CN" sz="3215" i="1">
                          <a:latin typeface="DejaVu Math TeX Gyre" panose="02000503000000000000" charset="0"/>
                          <a:cs typeface="DejaVu Math TeX Gyre" panose="02000503000000000000" charset="0"/>
                        </a:rPr>
                        <m:t>=</m:t>
                      </m:r>
                      <m:f>
                        <m:fPr>
                          <m:ctrlPr>
                            <a:rPr lang="en-US" altLang="zh-CN" sz="3215" i="1">
                              <a:latin typeface="DejaVu Math TeX Gyre" panose="02000503000000000000" charset="0"/>
                              <a:cs typeface="DejaVu Math TeX Gyre" panose="02000503000000000000" charset="0"/>
                            </a:rPr>
                          </m:ctrlPr>
                        </m:fPr>
                        <m:num>
                          <m:r>
                            <a:rPr lang="en-US" altLang="zh-CN" sz="3215" i="1">
                              <a:latin typeface="DejaVu Math TeX Gyre" panose="02000503000000000000" charset="0"/>
                              <a:cs typeface="DejaVu Math TeX Gyre" panose="02000503000000000000" charset="0"/>
                            </a:rPr>
                            <m:t>1</m:t>
                          </m:r>
                        </m:num>
                        <m:den>
                          <m:r>
                            <a:rPr lang="en-US" altLang="zh-CN" sz="3215" i="1">
                              <a:latin typeface="DejaVu Math TeX Gyre" panose="02000503000000000000" charset="0"/>
                              <a:cs typeface="DejaVu Math TeX Gyre" panose="02000503000000000000" charset="0"/>
                            </a:rPr>
                            <m:t>𝑁</m:t>
                          </m:r>
                          <m:r>
                            <a:rPr lang="en-US" altLang="zh-CN" sz="3215" i="1">
                              <a:latin typeface="DejaVu Math TeX Gyre" panose="02000503000000000000" charset="0"/>
                              <a:cs typeface="DejaVu Math TeX Gyre" panose="02000503000000000000" charset="0"/>
                            </a:rPr>
                            <m:t>𝜙</m:t>
                          </m:r>
                        </m:den>
                      </m:f>
                      <m:r>
                        <a:rPr lang="en-US" altLang="zh-CN" sz="3215" i="1">
                          <a:latin typeface="DejaVu Math TeX Gyre" panose="02000503000000000000" charset="0"/>
                          <a:cs typeface="DejaVu Math TeX Gyre" panose="02000503000000000000" charset="0"/>
                        </a:rPr>
                        <m:t>+</m:t>
                      </m:r>
                      <m:f>
                        <m:fPr>
                          <m:ctrlPr>
                            <a:rPr lang="en-US" altLang="zh-CN" sz="3215" i="1">
                              <a:latin typeface="DejaVu Math TeX Gyre" panose="02000503000000000000" charset="0"/>
                              <a:cs typeface="DejaVu Math TeX Gyre" panose="02000503000000000000" charset="0"/>
                            </a:rPr>
                          </m:ctrlPr>
                        </m:fPr>
                        <m:num>
                          <m:r>
                            <a:rPr lang="en-US" altLang="zh-CN" sz="3215" i="1">
                              <a:latin typeface="DejaVu Math TeX Gyre" panose="02000503000000000000" charset="0"/>
                              <a:cs typeface="DejaVu Math TeX Gyre" panose="02000503000000000000" charset="0"/>
                            </a:rPr>
                            <m:t>1</m:t>
                          </m:r>
                        </m:num>
                        <m:den>
                          <m:r>
                            <a:rPr lang="en-US" altLang="zh-CN" sz="3215" i="1">
                              <a:latin typeface="DejaVu Math TeX Gyre" panose="02000503000000000000" charset="0"/>
                              <a:cs typeface="DejaVu Math TeX Gyre" panose="02000503000000000000" charset="0"/>
                            </a:rPr>
                            <m:t>1</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𝜙</m:t>
                          </m:r>
                        </m:den>
                      </m:f>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2</m:t>
                      </m:r>
                      <m:r>
                        <a:rPr lang="en-US" altLang="zh-CN" sz="3215" i="1">
                          <a:latin typeface="DejaVu Math TeX Gyre" panose="02000503000000000000" charset="0"/>
                          <a:cs typeface="DejaVu Math TeX Gyre" panose="02000503000000000000" charset="0"/>
                        </a:rPr>
                        <m:t>𝜒</m:t>
                      </m:r>
                    </m:oMath>
                  </m:oMathPara>
                </a14:m>
                <a:endParaRPr lang="zh-CN" altLang="en-US" sz="3215"/>
              </a:p>
            </p:txBody>
          </p:sp>
        </mc:Choice>
        <mc:Fallback>
          <p:sp>
            <p:nvSpPr>
              <p:cNvPr id="127" name="文本框 126"/>
              <p:cNvSpPr txBox="1">
                <a:spLocks noRot="1" noChangeAspect="1" noMove="1" noResize="1" noEditPoints="1" noAdjustHandles="1" noChangeArrowheads="1" noChangeShapeType="1" noTextEdit="1"/>
              </p:cNvSpPr>
              <p:nvPr/>
            </p:nvSpPr>
            <p:spPr>
              <a:xfrm>
                <a:off x="15823478" y="11406929"/>
                <a:ext cx="5108575" cy="1123315"/>
              </a:xfrm>
              <a:prstGeom prst="rect">
                <a:avLst/>
              </a:prstGeom>
              <a:blipFill rotWithShape="1">
                <a:blip r:embed="rId6"/>
                <a:stretch>
                  <a:fillRect l="-11" t="-38" r="11"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8" name="文本框 127"/>
              <p:cNvSpPr txBox="1"/>
              <p:nvPr/>
            </p:nvSpPr>
            <p:spPr>
              <a:xfrm>
                <a:off x="21081077" y="11361209"/>
                <a:ext cx="5870575" cy="1169035"/>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p>
                        <m:sSupPr>
                          <m:ctrlPr>
                            <a:rPr lang="en-US" altLang="zh-CN" sz="3215" i="1">
                              <a:latin typeface="DejaVu Math TeX Gyre" panose="02000503000000000000" charset="0"/>
                              <a:cs typeface="DejaVu Math TeX Gyre" panose="02000503000000000000" charset="0"/>
                            </a:rPr>
                          </m:ctrlPr>
                        </m:sSupPr>
                        <m:e>
                          <m:r>
                            <a:rPr lang="en-US" altLang="zh-CN" sz="3215" i="1">
                              <a:latin typeface="DejaVu Math TeX Gyre" panose="02000503000000000000" charset="0"/>
                              <a:cs typeface="DejaVu Math TeX Gyre" panose="02000503000000000000" charset="0"/>
                            </a:rPr>
                            <m:t>𝑓</m:t>
                          </m:r>
                        </m:e>
                        <m:sup>
                          <m:r>
                            <a:rPr lang="en-US" altLang="zh-CN" sz="3215" i="1">
                              <a:latin typeface="DejaVu Math TeX Gyre" panose="02000503000000000000" charset="0"/>
                              <a:cs typeface="DejaVu Math TeX Gyre" panose="02000503000000000000" charset="0"/>
                            </a:rPr>
                            <m:t>’’’</m:t>
                          </m:r>
                        </m:sup>
                      </m:sSup>
                      <m:r>
                        <a:rPr lang="en-US" altLang="zh-CN" sz="3215" i="1">
                          <a:latin typeface="DejaVu Math TeX Gyre" panose="02000503000000000000" charset="0"/>
                          <a:cs typeface="DejaVu Math TeX Gyre" panose="02000503000000000000" charset="0"/>
                        </a:rPr>
                        <m:t>=−</m:t>
                      </m:r>
                      <m:f>
                        <m:fPr>
                          <m:ctrlPr>
                            <a:rPr lang="en-US" altLang="zh-CN" sz="3215" i="1">
                              <a:latin typeface="DejaVu Math TeX Gyre" panose="02000503000000000000" charset="0"/>
                              <a:cs typeface="DejaVu Math TeX Gyre" panose="02000503000000000000" charset="0"/>
                            </a:rPr>
                          </m:ctrlPr>
                        </m:fPr>
                        <m:num>
                          <m:r>
                            <a:rPr lang="en-US" altLang="zh-CN" sz="3215" i="1">
                              <a:latin typeface="DejaVu Math TeX Gyre" panose="02000503000000000000" charset="0"/>
                              <a:cs typeface="DejaVu Math TeX Gyre" panose="02000503000000000000" charset="0"/>
                            </a:rPr>
                            <m:t>1</m:t>
                          </m:r>
                        </m:num>
                        <m:den>
                          <m:r>
                            <a:rPr lang="en-US" altLang="zh-CN" sz="3215" i="1">
                              <a:latin typeface="DejaVu Math TeX Gyre" panose="02000503000000000000" charset="0"/>
                              <a:cs typeface="DejaVu Math TeX Gyre" panose="02000503000000000000" charset="0"/>
                            </a:rPr>
                            <m:t>𝑁</m:t>
                          </m:r>
                          <m:sSup>
                            <m:sSupPr>
                              <m:ctrlPr>
                                <a:rPr lang="en-US" altLang="zh-CN" sz="3215" i="1">
                                  <a:latin typeface="DejaVu Math TeX Gyre" panose="02000503000000000000" charset="0"/>
                                  <a:cs typeface="DejaVu Math TeX Gyre" panose="02000503000000000000" charset="0"/>
                                </a:rPr>
                              </m:ctrlPr>
                            </m:sSupPr>
                            <m:e>
                              <m:r>
                                <a:rPr lang="en-US" altLang="zh-CN" sz="3215" i="1">
                                  <a:latin typeface="DejaVu Math TeX Gyre" panose="02000503000000000000" charset="0"/>
                                  <a:cs typeface="DejaVu Math TeX Gyre" panose="02000503000000000000" charset="0"/>
                                </a:rPr>
                                <m:t>𝜙</m:t>
                              </m:r>
                            </m:e>
                            <m:sup>
                              <m:r>
                                <a:rPr lang="en-US" altLang="zh-CN" sz="3215" i="1">
                                  <a:latin typeface="DejaVu Math TeX Gyre" panose="02000503000000000000" charset="0"/>
                                  <a:cs typeface="DejaVu Math TeX Gyre" panose="02000503000000000000" charset="0"/>
                                </a:rPr>
                                <m:t>2</m:t>
                              </m:r>
                            </m:sup>
                          </m:sSup>
                        </m:den>
                      </m:f>
                      <m:r>
                        <a:rPr lang="en-US" altLang="zh-CN" sz="3215" i="1">
                          <a:latin typeface="DejaVu Math TeX Gyre" panose="02000503000000000000" charset="0"/>
                          <a:cs typeface="DejaVu Math TeX Gyre" panose="02000503000000000000" charset="0"/>
                        </a:rPr>
                        <m:t>+</m:t>
                      </m:r>
                      <m:f>
                        <m:fPr>
                          <m:ctrlPr>
                            <a:rPr lang="en-US" altLang="zh-CN" sz="3215" i="1">
                              <a:latin typeface="DejaVu Math TeX Gyre" panose="02000503000000000000" charset="0"/>
                              <a:cs typeface="DejaVu Math TeX Gyre" panose="02000503000000000000" charset="0"/>
                            </a:rPr>
                          </m:ctrlPr>
                        </m:fPr>
                        <m:num>
                          <m:r>
                            <a:rPr lang="en-US" altLang="zh-CN" sz="3215" i="1">
                              <a:latin typeface="DejaVu Math TeX Gyre" panose="02000503000000000000" charset="0"/>
                              <a:cs typeface="DejaVu Math TeX Gyre" panose="02000503000000000000" charset="0"/>
                            </a:rPr>
                            <m:t>1</m:t>
                          </m:r>
                        </m:num>
                        <m:den>
                          <m:sSup>
                            <m:sSupPr>
                              <m:ctrlPr>
                                <a:rPr lang="en-US" altLang="zh-CN" sz="3215" i="1">
                                  <a:latin typeface="DejaVu Math TeX Gyre" panose="02000503000000000000" charset="0"/>
                                  <a:cs typeface="DejaVu Math TeX Gyre" panose="02000503000000000000" charset="0"/>
                                </a:rPr>
                              </m:ctrlPr>
                            </m:sSupPr>
                            <m:e>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1</m:t>
                              </m:r>
                              <m:r>
                                <a:rPr lang="en-US" altLang="zh-CN" sz="3215" i="1">
                                  <a:latin typeface="DejaVu Math TeX Gyre" panose="02000503000000000000" charset="0"/>
                                  <a:cs typeface="DejaVu Math TeX Gyre" panose="02000503000000000000" charset="0"/>
                                </a:rPr>
                                <m:t>−</m:t>
                              </m:r>
                              <m:r>
                                <a:rPr lang="en-US" altLang="zh-CN" sz="3215" i="1">
                                  <a:latin typeface="DejaVu Math TeX Gyre" panose="02000503000000000000" charset="0"/>
                                  <a:cs typeface="DejaVu Math TeX Gyre" panose="02000503000000000000" charset="0"/>
                                </a:rPr>
                                <m:t>𝜙</m:t>
                              </m:r>
                              <m:r>
                                <a:rPr lang="en-US" altLang="zh-CN" sz="3215" i="1">
                                  <a:latin typeface="DejaVu Math TeX Gyre" panose="02000503000000000000" charset="0"/>
                                  <a:cs typeface="DejaVu Math TeX Gyre" panose="02000503000000000000" charset="0"/>
                                </a:rPr>
                                <m:t>)</m:t>
                              </m:r>
                            </m:e>
                            <m:sup>
                              <m:r>
                                <a:rPr lang="en-US" altLang="zh-CN" sz="3215" i="1">
                                  <a:latin typeface="DejaVu Math TeX Gyre" panose="02000503000000000000" charset="0"/>
                                  <a:cs typeface="DejaVu Math TeX Gyre" panose="02000503000000000000" charset="0"/>
                                </a:rPr>
                                <m:t>2</m:t>
                              </m:r>
                            </m:sup>
                          </m:sSup>
                        </m:den>
                      </m:f>
                    </m:oMath>
                  </m:oMathPara>
                </a14:m>
                <a:endParaRPr lang="zh-CN" altLang="en-US" sz="3215"/>
              </a:p>
            </p:txBody>
          </p:sp>
        </mc:Choice>
        <mc:Fallback>
          <p:sp>
            <p:nvSpPr>
              <p:cNvPr id="128" name="文本框 127"/>
              <p:cNvSpPr txBox="1">
                <a:spLocks noRot="1" noChangeAspect="1" noMove="1" noResize="1" noEditPoints="1" noAdjustHandles="1" noChangeArrowheads="1" noChangeShapeType="1" noTextEdit="1"/>
              </p:cNvSpPr>
              <p:nvPr/>
            </p:nvSpPr>
            <p:spPr>
              <a:xfrm>
                <a:off x="21081077" y="11361209"/>
                <a:ext cx="5870575" cy="1169035"/>
              </a:xfrm>
              <a:prstGeom prst="rect">
                <a:avLst/>
              </a:prstGeom>
              <a:blipFill rotWithShape="1">
                <a:blip r:embed="rId7"/>
                <a:stretch>
                  <a:fillRect l="-6" t="-36" r="6" b="36"/>
                </a:stretch>
              </a:blipFill>
            </p:spPr>
            <p:txBody>
              <a:bodyPr/>
              <a:lstStyle/>
              <a:p>
                <a:r>
                  <a:rPr lang="zh-CN" altLang="en-US">
                    <a:noFill/>
                  </a:rPr>
                  <a:t> </a:t>
                </a:r>
              </a:p>
            </p:txBody>
          </p:sp>
        </mc:Fallback>
      </mc:AlternateContent>
      <p:pic>
        <p:nvPicPr>
          <p:cNvPr id="33" name="图片 32"/>
          <p:cNvPicPr>
            <a:picLocks noChangeAspect="1"/>
          </p:cNvPicPr>
          <p:nvPr>
            <p:custDataLst>
              <p:tags r:id="rId8"/>
            </p:custDataLst>
          </p:nvPr>
        </p:nvPicPr>
        <p:blipFill>
          <a:blip r:embed="rId9">
            <a:clrChange>
              <a:clrFrom>
                <a:srgbClr val="FFFFFF">
                  <a:alpha val="100000"/>
                </a:srgbClr>
              </a:clrFrom>
              <a:clrTo>
                <a:srgbClr val="FFFFFF">
                  <a:alpha val="100000"/>
                  <a:alpha val="0"/>
                </a:srgbClr>
              </a:clrTo>
            </a:clrChange>
          </a:blip>
          <a:stretch>
            <a:fillRect/>
          </a:stretch>
        </p:blipFill>
        <p:spPr>
          <a:xfrm>
            <a:off x="751256" y="20502293"/>
            <a:ext cx="5955203" cy="4894006"/>
          </a:xfrm>
          <a:prstGeom prst="rect">
            <a:avLst/>
          </a:prstGeom>
        </p:spPr>
      </p:pic>
      <p:sp>
        <p:nvSpPr>
          <p:cNvPr id="50" name="文本框 49"/>
          <p:cNvSpPr txBox="1"/>
          <p:nvPr/>
        </p:nvSpPr>
        <p:spPr>
          <a:xfrm>
            <a:off x="1516542" y="25146305"/>
            <a:ext cx="5502408" cy="1474452"/>
          </a:xfrm>
          <a:prstGeom prst="rect">
            <a:avLst/>
          </a:prstGeom>
          <a:noFill/>
        </p:spPr>
        <p:txBody>
          <a:bodyPr wrap="square" rtlCol="0">
            <a:noAutofit/>
          </a:bodyPr>
          <a:p>
            <a:r>
              <a:rPr lang="en-US" altLang="zh-CN" sz="1810"/>
              <a:t>Sun, Xiaoquan. Structure and Property of Polymers and Biopolymers from Molecular Dynamic Simulations. University of Arkansas, 2018.</a:t>
            </a:r>
            <a:endParaRPr lang="en-US" altLang="zh-CN" sz="1810"/>
          </a:p>
        </p:txBody>
      </p:sp>
      <p:sp>
        <p:nvSpPr>
          <p:cNvPr id="53" name="文本框 52"/>
          <p:cNvSpPr txBox="1"/>
          <p:nvPr/>
        </p:nvSpPr>
        <p:spPr>
          <a:xfrm>
            <a:off x="6669470" y="20424489"/>
            <a:ext cx="7730667" cy="5564907"/>
          </a:xfrm>
          <a:prstGeom prst="rect">
            <a:avLst/>
          </a:prstGeom>
          <a:noFill/>
        </p:spPr>
        <p:txBody>
          <a:bodyPr wrap="square" rtlCol="0">
            <a:noAutofit/>
          </a:bodyPr>
          <a:p>
            <a:pPr algn="just"/>
            <a:r>
              <a:rPr lang="en-US" altLang="zh-CN" sz="2810"/>
              <a:t>  Molecular dynamics (MD) simulation is a computational method used to investigate the dynamic behavior of atoms and molecules in nanoscale systems. By numerically solving Newton’s equations of motion, it provides time-resolved atomic trajectories, enabling the analysis of structural and thermodynamic properties. MD has become an essential tool in materials science and molecular research, offering insights into processes that are often challenging to observe experimentally.</a:t>
            </a:r>
            <a:endParaRPr lang="en-US" altLang="zh-CN" sz="2810"/>
          </a:p>
        </p:txBody>
      </p:sp>
      <p:sp>
        <p:nvSpPr>
          <p:cNvPr id="84" name="圆角矩形 83"/>
          <p:cNvSpPr/>
          <p:nvPr/>
        </p:nvSpPr>
        <p:spPr>
          <a:xfrm>
            <a:off x="6503658" y="20050774"/>
            <a:ext cx="7955151" cy="5656741"/>
          </a:xfrm>
          <a:prstGeom prst="roundRect">
            <a:avLst/>
          </a:prstGeom>
          <a:noFill/>
          <a:ln w="28575">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9040"/>
          </a:p>
        </p:txBody>
      </p:sp>
      <p:pic>
        <p:nvPicPr>
          <p:cNvPr id="54" name="图片 53"/>
          <p:cNvPicPr>
            <a:picLocks noChangeAspect="1"/>
          </p:cNvPicPr>
          <p:nvPr>
            <p:custDataLst>
              <p:tags r:id="rId10"/>
            </p:custDataLst>
          </p:nvPr>
        </p:nvPicPr>
        <p:blipFill>
          <a:blip r:embed="rId11">
            <a:clrChange>
              <a:clrFrom>
                <a:srgbClr val="FFFFFF">
                  <a:alpha val="100000"/>
                </a:srgbClr>
              </a:clrFrom>
              <a:clrTo>
                <a:srgbClr val="FFFFFF">
                  <a:alpha val="100000"/>
                  <a:alpha val="0"/>
                </a:srgbClr>
              </a:clrTo>
            </a:clrChange>
          </a:blip>
          <a:stretch>
            <a:fillRect/>
          </a:stretch>
        </p:blipFill>
        <p:spPr>
          <a:xfrm>
            <a:off x="1554807" y="27849041"/>
            <a:ext cx="4948851" cy="2002499"/>
          </a:xfrm>
          <a:prstGeom prst="rect">
            <a:avLst/>
          </a:prstGeom>
        </p:spPr>
      </p:pic>
      <p:sp>
        <p:nvSpPr>
          <p:cNvPr id="55" name="文本框 54"/>
          <p:cNvSpPr txBox="1"/>
          <p:nvPr/>
        </p:nvSpPr>
        <p:spPr>
          <a:xfrm>
            <a:off x="1669600" y="27040389"/>
            <a:ext cx="6487077" cy="577791"/>
          </a:xfrm>
          <a:prstGeom prst="rect">
            <a:avLst/>
          </a:prstGeom>
          <a:noFill/>
        </p:spPr>
        <p:txBody>
          <a:bodyPr wrap="square" rtlCol="0">
            <a:noAutofit/>
          </a:bodyPr>
          <a:p>
            <a:r>
              <a:rPr lang="en-US" altLang="zh-CN" sz="2010"/>
              <a:t>Synthetic route of PVCL via free radical polymerization from N-vinylcaprolactam(VCL)</a:t>
            </a:r>
            <a:endParaRPr lang="en-US" altLang="zh-CN" sz="2010"/>
          </a:p>
        </p:txBody>
      </p:sp>
      <p:pic>
        <p:nvPicPr>
          <p:cNvPr id="56" name="图片 55"/>
          <p:cNvPicPr>
            <a:picLocks noChangeAspect="1"/>
          </p:cNvPicPr>
          <p:nvPr>
            <p:custDataLst>
              <p:tags r:id="rId12"/>
            </p:custDataLst>
          </p:nvPr>
        </p:nvPicPr>
        <p:blipFill>
          <a:blip r:embed="rId13">
            <a:clrChange>
              <a:clrFrom>
                <a:srgbClr val="FFFFFF">
                  <a:alpha val="100000"/>
                </a:srgbClr>
              </a:clrFrom>
              <a:clrTo>
                <a:srgbClr val="FFFFFF">
                  <a:alpha val="100000"/>
                  <a:alpha val="0"/>
                </a:srgbClr>
              </a:clrTo>
            </a:clrChange>
          </a:blip>
          <a:stretch>
            <a:fillRect/>
          </a:stretch>
        </p:blipFill>
        <p:spPr>
          <a:xfrm>
            <a:off x="1248692" y="29685728"/>
            <a:ext cx="5911837" cy="2039488"/>
          </a:xfrm>
          <a:prstGeom prst="rect">
            <a:avLst/>
          </a:prstGeom>
        </p:spPr>
      </p:pic>
      <p:sp>
        <p:nvSpPr>
          <p:cNvPr id="57" name="文本框 56"/>
          <p:cNvSpPr txBox="1"/>
          <p:nvPr>
            <p:custDataLst>
              <p:tags r:id="rId14"/>
            </p:custDataLst>
          </p:nvPr>
        </p:nvSpPr>
        <p:spPr>
          <a:xfrm>
            <a:off x="1248692" y="31675473"/>
            <a:ext cx="5896531" cy="1411953"/>
          </a:xfrm>
          <a:prstGeom prst="rect">
            <a:avLst/>
          </a:prstGeom>
          <a:noFill/>
        </p:spPr>
        <p:txBody>
          <a:bodyPr wrap="square" rtlCol="0">
            <a:noAutofit/>
          </a:bodyPr>
          <a:p>
            <a:r>
              <a:rPr lang="en-US" altLang="zh-CN" sz="1810"/>
              <a:t>Sun, Xiaoquan. Structure and Property of Polymers and Biopolymers from Molecular Dynamic Simulations. University of Arkansas, 2018.</a:t>
            </a:r>
            <a:endParaRPr lang="en-US" altLang="zh-CN" sz="1810"/>
          </a:p>
        </p:txBody>
      </p:sp>
      <p:sp>
        <p:nvSpPr>
          <p:cNvPr id="58" name="文本框 57"/>
          <p:cNvSpPr txBox="1"/>
          <p:nvPr/>
        </p:nvSpPr>
        <p:spPr>
          <a:xfrm>
            <a:off x="1516542" y="19890064"/>
            <a:ext cx="6941147" cy="400050"/>
          </a:xfrm>
          <a:prstGeom prst="rect">
            <a:avLst/>
          </a:prstGeom>
          <a:noFill/>
        </p:spPr>
        <p:txBody>
          <a:bodyPr wrap="square" rtlCol="0">
            <a:spAutoFit/>
          </a:bodyPr>
          <a:p>
            <a:r>
              <a:rPr lang="en-US" altLang="zh-CN" sz="2010"/>
              <a:t>The schematic workflow of MD simulation</a:t>
            </a:r>
            <a:endParaRPr lang="en-US" altLang="zh-CN" sz="2010"/>
          </a:p>
        </p:txBody>
      </p:sp>
      <p:sp>
        <p:nvSpPr>
          <p:cNvPr id="59" name="文本框 58"/>
          <p:cNvSpPr txBox="1"/>
          <p:nvPr/>
        </p:nvSpPr>
        <p:spPr>
          <a:xfrm>
            <a:off x="8346723" y="27236812"/>
            <a:ext cx="6265144" cy="5909286"/>
          </a:xfrm>
          <a:prstGeom prst="rect">
            <a:avLst/>
          </a:prstGeom>
          <a:noFill/>
        </p:spPr>
        <p:txBody>
          <a:bodyPr wrap="square" rtlCol="0">
            <a:noAutofit/>
          </a:bodyPr>
          <a:p>
            <a:pPr algn="just"/>
            <a:r>
              <a:rPr lang="zh-CN" altLang="en-US" sz="2810"/>
              <a:t>Advantages:</a:t>
            </a:r>
            <a:endParaRPr lang="zh-CN" altLang="en-US" sz="2810"/>
          </a:p>
          <a:p>
            <a:pPr algn="just"/>
            <a:r>
              <a:rPr lang="en-US" altLang="zh-CN" sz="2810"/>
              <a:t>1.</a:t>
            </a:r>
            <a:r>
              <a:rPr lang="zh-CN" altLang="en-US" sz="2810"/>
              <a:t>Exhibits LCST behavior near body temperature in water.</a:t>
            </a:r>
            <a:endParaRPr lang="zh-CN" altLang="en-US" sz="2810"/>
          </a:p>
          <a:p>
            <a:pPr algn="just"/>
            <a:r>
              <a:rPr lang="en-US" altLang="zh-CN" sz="2810"/>
              <a:t>2.</a:t>
            </a:r>
            <a:r>
              <a:rPr lang="zh-CN" altLang="en-US" sz="2810"/>
              <a:t>Biocompatible and suitable for biomedical use.</a:t>
            </a:r>
            <a:endParaRPr lang="zh-CN" altLang="en-US" sz="2810"/>
          </a:p>
          <a:p>
            <a:pPr algn="just"/>
            <a:r>
              <a:rPr lang="en-US" altLang="zh-CN" sz="2810"/>
              <a:t>3.</a:t>
            </a:r>
            <a:r>
              <a:rPr lang="zh-CN" altLang="en-US" sz="2810"/>
              <a:t>Polymerization can be controlled via free-radical methods.</a:t>
            </a:r>
            <a:endParaRPr lang="zh-CN" altLang="en-US" sz="2810"/>
          </a:p>
          <a:p>
            <a:pPr algn="just"/>
            <a:r>
              <a:rPr lang="zh-CN" altLang="en-US" sz="2810"/>
              <a:t>Challenge:</a:t>
            </a:r>
            <a:endParaRPr lang="zh-CN" altLang="en-US" sz="2810"/>
          </a:p>
          <a:p>
            <a:pPr algn="just"/>
            <a:r>
              <a:rPr lang="zh-CN" altLang="en-US" sz="2810"/>
              <a:t>Controlled polymerization of NVCL is difficult due to its distinct properties, making copolymerization with other monomers more complex.</a:t>
            </a:r>
            <a:endParaRPr lang="zh-CN" altLang="en-US" sz="2810"/>
          </a:p>
          <a:p>
            <a:pPr algn="just"/>
            <a:endParaRPr lang="zh-CN" altLang="en-US" sz="2810"/>
          </a:p>
        </p:txBody>
      </p:sp>
      <p:sp>
        <p:nvSpPr>
          <p:cNvPr id="60" name="TextBox 239"/>
          <p:cNvSpPr txBox="1"/>
          <p:nvPr>
            <p:custDataLst>
              <p:tags r:id="rId15"/>
            </p:custDataLst>
          </p:nvPr>
        </p:nvSpPr>
        <p:spPr>
          <a:xfrm>
            <a:off x="1210428" y="34538919"/>
            <a:ext cx="10781608" cy="586105"/>
          </a:xfrm>
          <a:prstGeom prst="rect">
            <a:avLst/>
          </a:prstGeom>
          <a:noFill/>
        </p:spPr>
        <p:txBody>
          <a:bodyPr wrap="square" rtlCol="0">
            <a:spAutoFit/>
          </a:bodyPr>
          <a:p>
            <a:pPr marL="342900" indent="-342900">
              <a:buFont typeface="Wingdings" panose="05000000000000000000" charset="0"/>
              <a:buChar char="Ø"/>
            </a:pPr>
            <a:r>
              <a:rPr lang="en-US" altLang="ko-KR" sz="3215" b="1" dirty="0">
                <a:solidFill>
                  <a:schemeClr val="tx1"/>
                </a:solidFill>
                <a:cs typeface="Times New Roman" panose="02020503050405090304" pitchFamily="18" charset="0"/>
              </a:rPr>
              <a:t>OPLS-5 Force Field</a:t>
            </a:r>
            <a:endParaRPr lang="en-US" altLang="ko-KR" sz="3215" b="1" dirty="0">
              <a:solidFill>
                <a:schemeClr val="tx1"/>
              </a:solidFill>
              <a:cs typeface="Times New Roman" panose="02020503050405090304" pitchFamily="18" charset="0"/>
            </a:endParaRPr>
          </a:p>
        </p:txBody>
      </p:sp>
      <p:sp>
        <p:nvSpPr>
          <p:cNvPr id="61" name="文本框 60"/>
          <p:cNvSpPr txBox="1"/>
          <p:nvPr/>
        </p:nvSpPr>
        <p:spPr>
          <a:xfrm>
            <a:off x="1363485" y="35216197"/>
            <a:ext cx="13493273" cy="1387475"/>
          </a:xfrm>
          <a:prstGeom prst="rect">
            <a:avLst/>
          </a:prstGeom>
          <a:noFill/>
        </p:spPr>
        <p:txBody>
          <a:bodyPr wrap="square" rtlCol="0">
            <a:spAutoFit/>
          </a:bodyPr>
          <a:p>
            <a:r>
              <a:rPr lang="en-US" altLang="zh-CN" sz="2810"/>
              <a:t>Both the addition of polarizability and new metals features are encompassed in a new model termed OPLS5</a:t>
            </a:r>
            <a:endParaRPr lang="en-US" altLang="zh-CN" sz="2810"/>
          </a:p>
          <a:p>
            <a:r>
              <a:rPr lang="en-US" altLang="zh-CN" sz="2810"/>
              <a:t>The OPLS5 functional form is given by:</a:t>
            </a:r>
            <a:endParaRPr lang="en-US" altLang="zh-CN" sz="2810"/>
          </a:p>
        </p:txBody>
      </p:sp>
      <p:sp>
        <p:nvSpPr>
          <p:cNvPr id="63" name="文本框 62"/>
          <p:cNvSpPr txBox="1"/>
          <p:nvPr/>
        </p:nvSpPr>
        <p:spPr>
          <a:xfrm>
            <a:off x="2110915" y="36879419"/>
            <a:ext cx="13333838" cy="1623682"/>
          </a:xfrm>
          <a:prstGeom prst="rect">
            <a:avLst/>
          </a:prstGeom>
          <a:noFill/>
        </p:spPr>
        <p:txBody>
          <a:bodyPr wrap="none" rtlCol="0" anchor="t">
            <a:noAutofit/>
          </a:bodyPr>
          <a:p>
            <a:pPr algn="l"/>
            <a:r>
              <a:rPr lang="en-US" altLang="zh-CN" sz="4015" b="1"/>
              <a:t>E  =  E</a:t>
            </a:r>
            <a:r>
              <a:rPr lang="en-US" altLang="zh-CN" sz="4015" b="1" baseline="-25000"/>
              <a:t>OPLS</a:t>
            </a:r>
            <a:r>
              <a:rPr lang="en-US" altLang="zh-CN" sz="4015" b="1"/>
              <a:t> + </a:t>
            </a:r>
            <a:r>
              <a:rPr lang="en-US" altLang="zh-CN" sz="4015" b="1">
                <a:latin typeface="Arima Koshi" panose="00000500000000000000" charset="0"/>
                <a:cs typeface="Arima Koshi" panose="00000500000000000000" charset="0"/>
              </a:rPr>
              <a:t>∑</a:t>
            </a:r>
            <a:r>
              <a:rPr lang="en-US" altLang="zh-CN" sz="4015" b="1" baseline="-25000">
                <a:latin typeface="Arima Koshi" panose="00000500000000000000" charset="0"/>
                <a:cs typeface="Arima Koshi" panose="00000500000000000000" charset="0"/>
              </a:rPr>
              <a:t>drudes</a:t>
            </a:r>
            <a:r>
              <a:rPr lang="en-US" altLang="zh-CN" sz="4015" b="1">
                <a:latin typeface="Arima Koshi" panose="00000500000000000000" charset="0"/>
                <a:cs typeface="Arima Koshi" panose="00000500000000000000" charset="0"/>
              </a:rPr>
              <a:t>K</a:t>
            </a:r>
            <a:r>
              <a:rPr lang="en-US" altLang="zh-CN" sz="4015" b="1" baseline="-25000">
                <a:latin typeface="Arima Koshi" panose="00000500000000000000" charset="0"/>
                <a:cs typeface="Arima Koshi" panose="00000500000000000000" charset="0"/>
              </a:rPr>
              <a:t>D</a:t>
            </a:r>
            <a:r>
              <a:rPr lang="en-US" altLang="zh-CN" sz="4015" b="1">
                <a:latin typeface="Arima Koshi" panose="00000500000000000000" charset="0"/>
                <a:cs typeface="Arima Koshi" panose="00000500000000000000" charset="0"/>
              </a:rPr>
              <a:t>(r-r</a:t>
            </a:r>
            <a:r>
              <a:rPr lang="en-US" altLang="zh-CN" sz="4015" b="1" baseline="-25000">
                <a:latin typeface="Arima Koshi" panose="00000500000000000000" charset="0"/>
                <a:cs typeface="Arima Koshi" panose="00000500000000000000" charset="0"/>
              </a:rPr>
              <a:t>eq</a:t>
            </a:r>
            <a:r>
              <a:rPr lang="en-US" altLang="zh-CN" sz="4015" b="1">
                <a:latin typeface="Arima Koshi" panose="00000500000000000000" charset="0"/>
                <a:cs typeface="Arima Koshi" panose="00000500000000000000" charset="0"/>
              </a:rPr>
              <a:t>)</a:t>
            </a:r>
            <a:r>
              <a:rPr lang="en-US" altLang="zh-CN" sz="4015" b="1" baseline="30000">
                <a:latin typeface="Arima Koshi" panose="00000500000000000000" charset="0"/>
                <a:cs typeface="Arima Koshi" panose="00000500000000000000" charset="0"/>
              </a:rPr>
              <a:t>2</a:t>
            </a:r>
            <a:endParaRPr lang="en-US" altLang="zh-CN" sz="4015" b="1" baseline="30000">
              <a:latin typeface="Arima Koshi" panose="00000500000000000000" charset="0"/>
              <a:cs typeface="Arima Koshi" panose="00000500000000000000" charset="0"/>
            </a:endParaRPr>
          </a:p>
          <a:p>
            <a:pPr algn="l"/>
            <a:endParaRPr lang="en-US" altLang="zh-CN" sz="4015" b="1" baseline="30000">
              <a:latin typeface="Arima Koshi" panose="00000500000000000000" charset="0"/>
              <a:cs typeface="Arima Koshi" panose="00000500000000000000" charset="0"/>
            </a:endParaRPr>
          </a:p>
          <a:p>
            <a:pPr algn="l"/>
            <a:r>
              <a:rPr lang="en-US" altLang="zh-CN" sz="4015" b="1" baseline="30000">
                <a:latin typeface="Arima Koshi" panose="00000500000000000000" charset="0"/>
                <a:cs typeface="Arima Koshi" panose="00000500000000000000" charset="0"/>
              </a:rPr>
              <a:t>                 </a:t>
            </a:r>
            <a:r>
              <a:rPr lang="en-US" altLang="zh-CN" sz="4015" b="1">
                <a:latin typeface="Arima Koshi" panose="00000500000000000000" charset="0"/>
                <a:cs typeface="Arima Koshi" panose="00000500000000000000" charset="0"/>
              </a:rPr>
              <a:t>+∑</a:t>
            </a:r>
            <a:r>
              <a:rPr lang="en-US" altLang="zh-CN" sz="4015" b="1" baseline="-25000">
                <a:latin typeface="Arima Koshi" panose="00000500000000000000" charset="0"/>
                <a:cs typeface="Arima Koshi" panose="00000500000000000000" charset="0"/>
              </a:rPr>
              <a:t>metal complexes</a:t>
            </a:r>
            <a:r>
              <a:rPr lang="en-US" altLang="zh-CN" sz="4015" b="1">
                <a:latin typeface="Arima Koshi" panose="00000500000000000000" charset="0"/>
                <a:cs typeface="Arima Koshi" panose="00000500000000000000" charset="0"/>
              </a:rPr>
              <a:t>[E</a:t>
            </a:r>
            <a:r>
              <a:rPr lang="en-US" altLang="zh-CN" sz="4015" b="1" baseline="-25000">
                <a:latin typeface="Arima Koshi" panose="00000500000000000000" charset="0"/>
                <a:cs typeface="Arima Koshi" panose="00000500000000000000" charset="0"/>
              </a:rPr>
              <a:t>FLucCT</a:t>
            </a:r>
            <a:r>
              <a:rPr lang="en-US" altLang="zh-CN" sz="4015" b="1">
                <a:latin typeface="Arima Koshi" panose="00000500000000000000" charset="0"/>
                <a:cs typeface="Arima Koshi" panose="00000500000000000000" charset="0"/>
              </a:rPr>
              <a:t>+E</a:t>
            </a:r>
            <a:r>
              <a:rPr lang="en-US" altLang="zh-CN" sz="4015" b="1" baseline="-25000">
                <a:latin typeface="Arima Koshi" panose="00000500000000000000" charset="0"/>
                <a:cs typeface="Arima Koshi" panose="00000500000000000000" charset="0"/>
              </a:rPr>
              <a:t>AOM</a:t>
            </a:r>
            <a:r>
              <a:rPr lang="en-US" altLang="zh-CN" sz="4015" b="1">
                <a:latin typeface="Arima Koshi" panose="00000500000000000000" charset="0"/>
                <a:cs typeface="Arima Koshi" panose="00000500000000000000" charset="0"/>
              </a:rPr>
              <a:t>+E</a:t>
            </a:r>
            <a:r>
              <a:rPr lang="en-US" altLang="zh-CN" sz="4015" b="1" baseline="-25000">
                <a:latin typeface="Arima Koshi" panose="00000500000000000000" charset="0"/>
                <a:cs typeface="Arima Koshi" panose="00000500000000000000" charset="0"/>
              </a:rPr>
              <a:t>Morse</a:t>
            </a:r>
            <a:r>
              <a:rPr lang="en-US" altLang="zh-CN" sz="4015" b="1">
                <a:latin typeface="Arima Koshi" panose="00000500000000000000" charset="0"/>
                <a:cs typeface="Arima Koshi" panose="00000500000000000000" charset="0"/>
              </a:rPr>
              <a:t>]</a:t>
            </a:r>
            <a:r>
              <a:rPr lang="en-US" altLang="zh-CN" sz="4015" b="1"/>
              <a:t> </a:t>
            </a:r>
            <a:endParaRPr lang="en-US" altLang="zh-CN" sz="4015" b="1"/>
          </a:p>
        </p:txBody>
      </p:sp>
      <p:pic>
        <p:nvPicPr>
          <p:cNvPr id="64" name="334E55B0-647D-440b-865C-3EC943EB4CBC-1" descr="wpsoffice"/>
          <p:cNvPicPr>
            <a:picLocks noChangeAspect="1"/>
          </p:cNvPicPr>
          <p:nvPr/>
        </p:nvPicPr>
        <p:blipFill>
          <a:blip r:embed="rId16"/>
          <a:stretch>
            <a:fillRect/>
          </a:stretch>
        </p:blipFill>
        <p:spPr>
          <a:xfrm>
            <a:off x="15128435" y="21410433"/>
            <a:ext cx="19132" cy="19132"/>
          </a:xfrm>
          <a:prstGeom prst="rect">
            <a:avLst/>
          </a:prstGeom>
        </p:spPr>
      </p:pic>
      <p:sp>
        <p:nvSpPr>
          <p:cNvPr id="66" name="文本框 65"/>
          <p:cNvSpPr txBox="1"/>
          <p:nvPr/>
        </p:nvSpPr>
        <p:spPr>
          <a:xfrm>
            <a:off x="1473176" y="38563049"/>
            <a:ext cx="12803240" cy="1622407"/>
          </a:xfrm>
          <a:prstGeom prst="rect">
            <a:avLst/>
          </a:prstGeom>
          <a:noFill/>
        </p:spPr>
        <p:txBody>
          <a:bodyPr wrap="square" rtlCol="0">
            <a:noAutofit/>
          </a:bodyPr>
          <a:p>
            <a:r>
              <a:rPr lang="zh-CN" altLang="en-US" sz="2810"/>
              <a:t>E</a:t>
            </a:r>
            <a:r>
              <a:rPr lang="zh-CN" altLang="en-US" sz="2810" baseline="-25000"/>
              <a:t>OPLS </a:t>
            </a:r>
            <a:r>
              <a:rPr lang="zh-CN" altLang="en-US" sz="2810"/>
              <a:t>includes bond, angle, dihedral, van der Waals, and Coulomb interactions, with modified charge site definitions.</a:t>
            </a:r>
            <a:endParaRPr lang="zh-CN" altLang="en-US" sz="2810"/>
          </a:p>
          <a:p>
            <a:endParaRPr lang="zh-CN" altLang="en-US" sz="2410"/>
          </a:p>
          <a:p>
            <a:r>
              <a:rPr lang="zh-CN" altLang="en-US" sz="1810"/>
              <a:t>Damm, Wolfgang, et al. "OPLS5: Addition of Polarizability and Improved Treatment of Metals." (2024).</a:t>
            </a:r>
            <a:endParaRPr lang="zh-CN" altLang="en-US" sz="1810"/>
          </a:p>
        </p:txBody>
      </p:sp>
      <p:sp>
        <p:nvSpPr>
          <p:cNvPr id="68" name="TextBox 239"/>
          <p:cNvSpPr txBox="1"/>
          <p:nvPr>
            <p:custDataLst>
              <p:tags r:id="rId17"/>
            </p:custDataLst>
          </p:nvPr>
        </p:nvSpPr>
        <p:spPr>
          <a:xfrm>
            <a:off x="15581229" y="15145289"/>
            <a:ext cx="14926909" cy="586105"/>
          </a:xfrm>
          <a:prstGeom prst="rect">
            <a:avLst/>
          </a:prstGeom>
          <a:noFill/>
        </p:spPr>
        <p:txBody>
          <a:bodyPr wrap="square" rtlCol="0">
            <a:spAutoFit/>
          </a:bodyPr>
          <a:p>
            <a:pPr marL="342900" indent="-342900">
              <a:buFont typeface="Wingdings" panose="05000000000000000000" charset="0"/>
              <a:buChar char="Ø"/>
            </a:pPr>
            <a:r>
              <a:rPr lang="zh-CN" altLang="en-US" sz="3215" b="1" dirty="0">
                <a:solidFill>
                  <a:schemeClr val="tx1"/>
                </a:solidFill>
                <a:cs typeface="Times New Roman" panose="02020503050405090304" pitchFamily="18" charset="0"/>
              </a:rPr>
              <a:t>Visualization section</a:t>
            </a:r>
            <a:endParaRPr lang="zh-CN" altLang="en-US" sz="3215" b="1" dirty="0">
              <a:solidFill>
                <a:schemeClr val="tx1"/>
              </a:solidFill>
              <a:cs typeface="Times New Roman" panose="02020503050405090304" pitchFamily="18" charset="0"/>
            </a:endParaRPr>
          </a:p>
        </p:txBody>
      </p:sp>
      <p:pic>
        <p:nvPicPr>
          <p:cNvPr id="69" name="图片 68"/>
          <p:cNvPicPr>
            <a:picLocks noChangeAspect="1"/>
          </p:cNvPicPr>
          <p:nvPr>
            <p:custDataLst>
              <p:tags r:id="rId18"/>
            </p:custDataLst>
          </p:nvPr>
        </p:nvPicPr>
        <p:blipFill>
          <a:blip r:embed="rId19"/>
          <a:stretch>
            <a:fillRect/>
          </a:stretch>
        </p:blipFill>
        <p:spPr>
          <a:xfrm>
            <a:off x="15831222" y="16522804"/>
            <a:ext cx="2478252" cy="1547154"/>
          </a:xfrm>
          <a:prstGeom prst="rect">
            <a:avLst/>
          </a:prstGeom>
        </p:spPr>
      </p:pic>
      <p:sp>
        <p:nvSpPr>
          <p:cNvPr id="74" name="文本框 73"/>
          <p:cNvSpPr txBox="1"/>
          <p:nvPr/>
        </p:nvSpPr>
        <p:spPr>
          <a:xfrm>
            <a:off x="16175601" y="16035572"/>
            <a:ext cx="3665721" cy="460447"/>
          </a:xfrm>
          <a:prstGeom prst="rect">
            <a:avLst/>
          </a:prstGeom>
          <a:noFill/>
        </p:spPr>
        <p:txBody>
          <a:bodyPr wrap="square" rtlCol="0">
            <a:noAutofit/>
          </a:bodyPr>
          <a:p>
            <a:r>
              <a:rPr lang="en-US" altLang="zh-CN" sz="2010"/>
              <a:t>295K   1ns</a:t>
            </a:r>
            <a:endParaRPr lang="en-US" altLang="zh-CN" sz="2010"/>
          </a:p>
        </p:txBody>
      </p:sp>
      <p:sp>
        <p:nvSpPr>
          <p:cNvPr id="75" name="文本框 74"/>
          <p:cNvSpPr txBox="1"/>
          <p:nvPr>
            <p:custDataLst>
              <p:tags r:id="rId20"/>
            </p:custDataLst>
          </p:nvPr>
        </p:nvSpPr>
        <p:spPr>
          <a:xfrm>
            <a:off x="19504597" y="16035572"/>
            <a:ext cx="3767760" cy="576516"/>
          </a:xfrm>
          <a:prstGeom prst="rect">
            <a:avLst/>
          </a:prstGeom>
          <a:noFill/>
        </p:spPr>
        <p:txBody>
          <a:bodyPr wrap="square" rtlCol="0">
            <a:noAutofit/>
          </a:bodyPr>
          <a:p>
            <a:r>
              <a:rPr lang="en-US" altLang="zh-CN" sz="2010"/>
              <a:t>295K   200ns</a:t>
            </a:r>
            <a:endParaRPr lang="en-US" altLang="zh-CN" sz="2010"/>
          </a:p>
        </p:txBody>
      </p:sp>
      <p:pic>
        <p:nvPicPr>
          <p:cNvPr id="76" name="图片 75"/>
          <p:cNvPicPr>
            <a:picLocks noChangeAspect="1"/>
          </p:cNvPicPr>
          <p:nvPr>
            <p:custDataLst>
              <p:tags r:id="rId21"/>
            </p:custDataLst>
          </p:nvPr>
        </p:nvPicPr>
        <p:blipFill>
          <a:blip r:embed="rId22"/>
          <a:stretch>
            <a:fillRect/>
          </a:stretch>
        </p:blipFill>
        <p:spPr>
          <a:xfrm>
            <a:off x="19271184" y="16522804"/>
            <a:ext cx="2476977" cy="1586694"/>
          </a:xfrm>
          <a:prstGeom prst="rect">
            <a:avLst/>
          </a:prstGeom>
        </p:spPr>
      </p:pic>
      <p:pic>
        <p:nvPicPr>
          <p:cNvPr id="77" name="图片 76"/>
          <p:cNvPicPr>
            <a:picLocks noChangeAspect="1"/>
          </p:cNvPicPr>
          <p:nvPr>
            <p:custDataLst>
              <p:tags r:id="rId23"/>
            </p:custDataLst>
          </p:nvPr>
        </p:nvPicPr>
        <p:blipFill>
          <a:blip r:embed="rId24"/>
          <a:stretch>
            <a:fillRect/>
          </a:stretch>
        </p:blipFill>
        <p:spPr>
          <a:xfrm>
            <a:off x="19271184" y="18825040"/>
            <a:ext cx="2470599" cy="1554807"/>
          </a:xfrm>
          <a:prstGeom prst="rect">
            <a:avLst/>
          </a:prstGeom>
        </p:spPr>
      </p:pic>
      <p:pic>
        <p:nvPicPr>
          <p:cNvPr id="78" name="图片 77"/>
          <p:cNvPicPr>
            <a:picLocks noChangeAspect="1"/>
          </p:cNvPicPr>
          <p:nvPr>
            <p:custDataLst>
              <p:tags r:id="rId25"/>
            </p:custDataLst>
          </p:nvPr>
        </p:nvPicPr>
        <p:blipFill>
          <a:blip r:embed="rId26"/>
          <a:stretch>
            <a:fillRect/>
          </a:stretch>
        </p:blipFill>
        <p:spPr>
          <a:xfrm>
            <a:off x="15831222" y="18872233"/>
            <a:ext cx="2470599" cy="1507614"/>
          </a:xfrm>
          <a:prstGeom prst="rect">
            <a:avLst/>
          </a:prstGeom>
        </p:spPr>
      </p:pic>
      <p:sp>
        <p:nvSpPr>
          <p:cNvPr id="80" name="文本框 79"/>
          <p:cNvSpPr txBox="1"/>
          <p:nvPr/>
        </p:nvSpPr>
        <p:spPr>
          <a:xfrm>
            <a:off x="16208764" y="18359491"/>
            <a:ext cx="1876227" cy="702788"/>
          </a:xfrm>
          <a:prstGeom prst="rect">
            <a:avLst/>
          </a:prstGeom>
          <a:noFill/>
        </p:spPr>
        <p:txBody>
          <a:bodyPr wrap="square" rtlCol="0">
            <a:noAutofit/>
          </a:bodyPr>
          <a:p>
            <a:r>
              <a:rPr lang="en-US" altLang="zh-CN" sz="2010"/>
              <a:t>335K  1ns</a:t>
            </a:r>
            <a:endParaRPr lang="en-US" altLang="zh-CN" sz="2010"/>
          </a:p>
        </p:txBody>
      </p:sp>
      <p:sp>
        <p:nvSpPr>
          <p:cNvPr id="81" name="文本框 80"/>
          <p:cNvSpPr txBox="1"/>
          <p:nvPr>
            <p:custDataLst>
              <p:tags r:id="rId27"/>
            </p:custDataLst>
          </p:nvPr>
        </p:nvSpPr>
        <p:spPr>
          <a:xfrm>
            <a:off x="19605359" y="18326329"/>
            <a:ext cx="2056069" cy="644116"/>
          </a:xfrm>
          <a:prstGeom prst="rect">
            <a:avLst/>
          </a:prstGeom>
          <a:noFill/>
        </p:spPr>
        <p:txBody>
          <a:bodyPr wrap="square" rtlCol="0">
            <a:noAutofit/>
          </a:bodyPr>
          <a:p>
            <a:r>
              <a:rPr lang="en-US" altLang="zh-CN" sz="2010"/>
              <a:t>335K  200ns</a:t>
            </a:r>
            <a:endParaRPr lang="en-US" altLang="zh-CN" sz="2010"/>
          </a:p>
        </p:txBody>
      </p:sp>
      <p:cxnSp>
        <p:nvCxnSpPr>
          <p:cNvPr id="82" name="直接连接符 81"/>
          <p:cNvCxnSpPr/>
          <p:nvPr/>
        </p:nvCxnSpPr>
        <p:spPr>
          <a:xfrm>
            <a:off x="18810737" y="16522804"/>
            <a:ext cx="0" cy="3826431"/>
          </a:xfrm>
          <a:prstGeom prst="line">
            <a:avLst/>
          </a:prstGeom>
          <a:ln>
            <a:solidFill>
              <a:schemeClr val="accent2"/>
            </a:solidFill>
          </a:ln>
        </p:spPr>
        <p:style>
          <a:lnRef idx="2">
            <a:schemeClr val="accent1"/>
          </a:lnRef>
          <a:fillRef idx="0">
            <a:srgbClr val="FFFFFF"/>
          </a:fillRef>
          <a:effectRef idx="0">
            <a:srgbClr val="FFFFFF"/>
          </a:effectRef>
          <a:fontRef idx="minor">
            <a:schemeClr val="tx1"/>
          </a:fontRef>
        </p:style>
      </p:cxnSp>
      <p:sp>
        <p:nvSpPr>
          <p:cNvPr id="83" name="文本框 82"/>
          <p:cNvSpPr txBox="1"/>
          <p:nvPr/>
        </p:nvSpPr>
        <p:spPr>
          <a:xfrm>
            <a:off x="23862902" y="18573771"/>
            <a:ext cx="4376162" cy="1819910"/>
          </a:xfrm>
          <a:prstGeom prst="rect">
            <a:avLst/>
          </a:prstGeom>
          <a:noFill/>
        </p:spPr>
        <p:txBody>
          <a:bodyPr wrap="square" rtlCol="0">
            <a:spAutoFit/>
          </a:bodyPr>
          <a:p>
            <a:r>
              <a:rPr lang="zh-CN" altLang="en-US" sz="2810"/>
              <a:t>The visualization clearly shows the transition of PNVCL from a linear to a globular conformation.</a:t>
            </a:r>
            <a:endParaRPr lang="zh-CN" altLang="en-US" sz="2810"/>
          </a:p>
        </p:txBody>
      </p:sp>
      <p:sp>
        <p:nvSpPr>
          <p:cNvPr id="85" name="圆角矩形 84"/>
          <p:cNvSpPr/>
          <p:nvPr/>
        </p:nvSpPr>
        <p:spPr>
          <a:xfrm>
            <a:off x="23718773" y="18429642"/>
            <a:ext cx="4742224" cy="2200198"/>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sp>
        <p:nvSpPr>
          <p:cNvPr id="86" name="右箭头 85"/>
          <p:cNvSpPr/>
          <p:nvPr/>
        </p:nvSpPr>
        <p:spPr>
          <a:xfrm rot="1260000">
            <a:off x="22120600" y="18818663"/>
            <a:ext cx="1103288" cy="471927"/>
          </a:xfrm>
          <a:prstGeom prst="rightArrow">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sp>
        <p:nvSpPr>
          <p:cNvPr id="87" name="文本框 86"/>
          <p:cNvSpPr txBox="1"/>
          <p:nvPr>
            <p:custDataLst>
              <p:tags r:id="rId28"/>
            </p:custDataLst>
          </p:nvPr>
        </p:nvSpPr>
        <p:spPr>
          <a:xfrm>
            <a:off x="25393475" y="15817465"/>
            <a:ext cx="4409325" cy="2508864"/>
          </a:xfrm>
          <a:prstGeom prst="rect">
            <a:avLst/>
          </a:prstGeom>
          <a:noFill/>
        </p:spPr>
        <p:txBody>
          <a:bodyPr wrap="square" rtlCol="0">
            <a:noAutofit/>
          </a:bodyPr>
          <a:p>
            <a:r>
              <a:rPr lang="en-US" altLang="zh-CN" sz="2010"/>
              <a:t>PNVCL:25mer ----1 chain</a:t>
            </a:r>
            <a:endParaRPr lang="en-US" altLang="zh-CN" sz="2010"/>
          </a:p>
          <a:p>
            <a:r>
              <a:rPr lang="en-US" altLang="zh-CN" sz="2010"/>
              <a:t>N</a:t>
            </a:r>
            <a:r>
              <a:rPr lang="en-US" altLang="zh-CN" sz="2010" baseline="-25000"/>
              <a:t>water</a:t>
            </a:r>
            <a:r>
              <a:rPr lang="en-US" altLang="zh-CN" sz="2010"/>
              <a:t>:4200</a:t>
            </a:r>
            <a:endParaRPr lang="en-US" altLang="zh-CN" sz="2010"/>
          </a:p>
          <a:p>
            <a:r>
              <a:rPr lang="en-US" altLang="zh-CN" sz="2010"/>
              <a:t>wt%:4.4wt%</a:t>
            </a:r>
            <a:endParaRPr lang="en-US" altLang="zh-CN" sz="2010"/>
          </a:p>
          <a:p>
            <a:r>
              <a:rPr lang="en-US" altLang="zh-CN" sz="2010"/>
              <a:t>tacticity: syndiotactic</a:t>
            </a:r>
            <a:endParaRPr lang="en-US" altLang="zh-CN" sz="2010"/>
          </a:p>
          <a:p>
            <a:r>
              <a:rPr lang="en-US" altLang="zh-CN" sz="2010"/>
              <a:t>force field :OPLS5</a:t>
            </a:r>
            <a:endParaRPr lang="en-US" altLang="zh-CN" sz="2010"/>
          </a:p>
          <a:p>
            <a:r>
              <a:rPr lang="en-US" altLang="zh-CN" sz="2010"/>
              <a:t>simulation time:200ns</a:t>
            </a:r>
            <a:endParaRPr lang="en-US" altLang="zh-CN" sz="2010"/>
          </a:p>
        </p:txBody>
      </p:sp>
      <p:pic>
        <p:nvPicPr>
          <p:cNvPr id="88" name="图片 87"/>
          <p:cNvPicPr>
            <a:picLocks noChangeAspect="1"/>
          </p:cNvPicPr>
          <p:nvPr>
            <p:custDataLst>
              <p:tags r:id="rId29"/>
            </p:custDataLst>
          </p:nvPr>
        </p:nvPicPr>
        <p:blipFill>
          <a:blip r:embed="rId30"/>
          <a:stretch>
            <a:fillRect/>
          </a:stretch>
        </p:blipFill>
        <p:spPr>
          <a:xfrm>
            <a:off x="22559364" y="16522804"/>
            <a:ext cx="2466773" cy="1547154"/>
          </a:xfrm>
          <a:prstGeom prst="rect">
            <a:avLst/>
          </a:prstGeom>
        </p:spPr>
      </p:pic>
      <p:pic>
        <p:nvPicPr>
          <p:cNvPr id="106" name="图片 105"/>
          <p:cNvPicPr>
            <a:picLocks noChangeAspect="1"/>
          </p:cNvPicPr>
          <p:nvPr>
            <p:custDataLst>
              <p:tags r:id="rId31"/>
            </p:custDataLst>
          </p:nvPr>
        </p:nvPicPr>
        <p:blipFill>
          <a:blip r:embed="rId32"/>
          <a:srcRect b="1988"/>
          <a:stretch>
            <a:fillRect/>
          </a:stretch>
        </p:blipFill>
        <p:spPr>
          <a:xfrm>
            <a:off x="15525108" y="21879808"/>
            <a:ext cx="4022855" cy="2641513"/>
          </a:xfrm>
          <a:prstGeom prst="rect">
            <a:avLst/>
          </a:prstGeom>
        </p:spPr>
      </p:pic>
      <p:sp>
        <p:nvSpPr>
          <p:cNvPr id="107" name="文本框 106"/>
          <p:cNvSpPr txBox="1"/>
          <p:nvPr/>
        </p:nvSpPr>
        <p:spPr>
          <a:xfrm>
            <a:off x="16361821" y="21410433"/>
            <a:ext cx="2466773" cy="524221"/>
          </a:xfrm>
          <a:prstGeom prst="rect">
            <a:avLst/>
          </a:prstGeom>
          <a:noFill/>
        </p:spPr>
        <p:txBody>
          <a:bodyPr wrap="square" rtlCol="0">
            <a:noAutofit/>
          </a:bodyPr>
          <a:p>
            <a:r>
              <a:rPr lang="en-US" altLang="zh-CN" sz="2010"/>
              <a:t>PNVCL(4.4wt%)</a:t>
            </a:r>
            <a:endParaRPr lang="en-US" altLang="zh-CN" sz="2010"/>
          </a:p>
          <a:p>
            <a:endParaRPr lang="en-US" altLang="zh-CN" sz="2010"/>
          </a:p>
        </p:txBody>
      </p:sp>
      <p:sp>
        <p:nvSpPr>
          <p:cNvPr id="108" name="文本框 107"/>
          <p:cNvSpPr txBox="1"/>
          <p:nvPr/>
        </p:nvSpPr>
        <p:spPr>
          <a:xfrm>
            <a:off x="19730356" y="22798152"/>
            <a:ext cx="5734545" cy="1586694"/>
          </a:xfrm>
          <a:prstGeom prst="rect">
            <a:avLst/>
          </a:prstGeom>
          <a:noFill/>
        </p:spPr>
        <p:txBody>
          <a:bodyPr wrap="square" rtlCol="0">
            <a:noAutofit/>
          </a:bodyPr>
          <a:p>
            <a:pPr algn="just"/>
            <a:r>
              <a:rPr lang="zh-CN" altLang="en-US" sz="2410"/>
              <a:t>Both light scattering experiments and MD simulations indicate that phase separation occurs around 305 K.</a:t>
            </a:r>
            <a:endParaRPr lang="zh-CN" altLang="en-US" sz="2410"/>
          </a:p>
        </p:txBody>
      </p:sp>
      <p:sp>
        <p:nvSpPr>
          <p:cNvPr id="109" name="TextBox 239"/>
          <p:cNvSpPr txBox="1"/>
          <p:nvPr>
            <p:custDataLst>
              <p:tags r:id="rId33"/>
            </p:custDataLst>
          </p:nvPr>
        </p:nvSpPr>
        <p:spPr>
          <a:xfrm>
            <a:off x="15750867" y="20655350"/>
            <a:ext cx="14926909" cy="586105"/>
          </a:xfrm>
          <a:prstGeom prst="rect">
            <a:avLst/>
          </a:prstGeom>
          <a:noFill/>
        </p:spPr>
        <p:txBody>
          <a:bodyPr wrap="square" rtlCol="0">
            <a:spAutoFit/>
          </a:bodyPr>
          <a:p>
            <a:pPr marL="342900" indent="-342900">
              <a:buFont typeface="Wingdings" panose="05000000000000000000" charset="0"/>
              <a:buChar char="Ø"/>
            </a:pPr>
            <a:r>
              <a:rPr lang="zh-CN" altLang="en-US" sz="3215" b="1" dirty="0">
                <a:solidFill>
                  <a:schemeClr val="tx1"/>
                </a:solidFill>
                <a:cs typeface="Times New Roman" panose="02020503050405090304" pitchFamily="18" charset="0"/>
              </a:rPr>
              <a:t>Light scattering experiments + MD simulations </a:t>
            </a:r>
            <a:endParaRPr lang="zh-CN" altLang="en-US" sz="3215" b="1" dirty="0">
              <a:solidFill>
                <a:schemeClr val="tx1"/>
              </a:solidFill>
              <a:cs typeface="Times New Roman" panose="02020503050405090304" pitchFamily="18" charset="0"/>
            </a:endParaRPr>
          </a:p>
        </p:txBody>
      </p:sp>
      <p:sp>
        <p:nvSpPr>
          <p:cNvPr id="110" name="文本框 109"/>
          <p:cNvSpPr txBox="1"/>
          <p:nvPr/>
        </p:nvSpPr>
        <p:spPr>
          <a:xfrm>
            <a:off x="26157486" y="21429565"/>
            <a:ext cx="3189968" cy="677278"/>
          </a:xfrm>
          <a:prstGeom prst="rect">
            <a:avLst/>
          </a:prstGeom>
          <a:noFill/>
        </p:spPr>
        <p:txBody>
          <a:bodyPr wrap="square" rtlCol="0">
            <a:noAutofit/>
          </a:bodyPr>
          <a:p>
            <a:r>
              <a:rPr lang="en-US" altLang="zh-CN" sz="2010"/>
              <a:t>radius of gyration</a:t>
            </a:r>
            <a:endParaRPr lang="en-US" altLang="zh-CN" sz="2010"/>
          </a:p>
        </p:txBody>
      </p:sp>
      <p:sp>
        <p:nvSpPr>
          <p:cNvPr id="111" name="椭圆 110"/>
          <p:cNvSpPr/>
          <p:nvPr/>
        </p:nvSpPr>
        <p:spPr>
          <a:xfrm>
            <a:off x="16443452" y="22539230"/>
            <a:ext cx="765286" cy="1335425"/>
          </a:xfrm>
          <a:prstGeom prst="ellipse">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sp>
        <p:nvSpPr>
          <p:cNvPr id="112" name="椭圆 111"/>
          <p:cNvSpPr/>
          <p:nvPr/>
        </p:nvSpPr>
        <p:spPr>
          <a:xfrm>
            <a:off x="27230162" y="22338980"/>
            <a:ext cx="765286" cy="1224458"/>
          </a:xfrm>
          <a:prstGeom prst="ellipse">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cxnSp>
        <p:nvCxnSpPr>
          <p:cNvPr id="114" name="直接箭头连接符 113"/>
          <p:cNvCxnSpPr>
            <a:stCxn id="111" idx="6"/>
          </p:cNvCxnSpPr>
          <p:nvPr/>
        </p:nvCxnSpPr>
        <p:spPr>
          <a:xfrm>
            <a:off x="17208738" y="23207580"/>
            <a:ext cx="2674676" cy="355858"/>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115" name="直接箭头连接符 114"/>
          <p:cNvCxnSpPr>
            <a:stCxn id="112" idx="2"/>
          </p:cNvCxnSpPr>
          <p:nvPr/>
        </p:nvCxnSpPr>
        <p:spPr>
          <a:xfrm flipH="1">
            <a:off x="25546532" y="22951209"/>
            <a:ext cx="1683630" cy="459172"/>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pic>
        <p:nvPicPr>
          <p:cNvPr id="124" name="图片 123"/>
          <p:cNvPicPr>
            <a:picLocks noChangeAspect="1"/>
          </p:cNvPicPr>
          <p:nvPr>
            <p:custDataLst>
              <p:tags r:id="rId34"/>
            </p:custDataLst>
          </p:nvPr>
        </p:nvPicPr>
        <p:blipFill>
          <a:blip r:embed="rId35"/>
          <a:stretch>
            <a:fillRect/>
          </a:stretch>
        </p:blipFill>
        <p:spPr>
          <a:xfrm>
            <a:off x="25617959" y="25036614"/>
            <a:ext cx="3197621" cy="2003775"/>
          </a:xfrm>
          <a:prstGeom prst="rect">
            <a:avLst/>
          </a:prstGeom>
        </p:spPr>
      </p:pic>
      <p:pic>
        <p:nvPicPr>
          <p:cNvPr id="125" name="图片 124"/>
          <p:cNvPicPr>
            <a:picLocks noChangeAspect="1"/>
          </p:cNvPicPr>
          <p:nvPr>
            <p:custDataLst>
              <p:tags r:id="rId36"/>
            </p:custDataLst>
          </p:nvPr>
        </p:nvPicPr>
        <p:blipFill>
          <a:blip r:embed="rId37"/>
          <a:stretch>
            <a:fillRect/>
          </a:stretch>
        </p:blipFill>
        <p:spPr>
          <a:xfrm>
            <a:off x="22332330" y="25090184"/>
            <a:ext cx="3237161" cy="1982092"/>
          </a:xfrm>
          <a:prstGeom prst="rect">
            <a:avLst/>
          </a:prstGeom>
        </p:spPr>
      </p:pic>
      <p:pic>
        <p:nvPicPr>
          <p:cNvPr id="135" name="图片 134"/>
          <p:cNvPicPr>
            <a:picLocks noChangeAspect="1"/>
          </p:cNvPicPr>
          <p:nvPr>
            <p:custDataLst>
              <p:tags r:id="rId38"/>
            </p:custDataLst>
          </p:nvPr>
        </p:nvPicPr>
        <p:blipFill>
          <a:blip r:embed="rId39"/>
          <a:stretch>
            <a:fillRect/>
          </a:stretch>
        </p:blipFill>
        <p:spPr>
          <a:xfrm>
            <a:off x="22485387" y="31385939"/>
            <a:ext cx="3276701" cy="2054794"/>
          </a:xfrm>
          <a:prstGeom prst="rect">
            <a:avLst/>
          </a:prstGeom>
        </p:spPr>
      </p:pic>
      <p:pic>
        <p:nvPicPr>
          <p:cNvPr id="146" name="图片 145"/>
          <p:cNvPicPr>
            <a:picLocks noChangeAspect="1"/>
          </p:cNvPicPr>
          <p:nvPr>
            <p:custDataLst>
              <p:tags r:id="rId40"/>
            </p:custDataLst>
          </p:nvPr>
        </p:nvPicPr>
        <p:blipFill>
          <a:blip r:embed="rId41"/>
          <a:stretch>
            <a:fillRect/>
          </a:stretch>
        </p:blipFill>
        <p:spPr>
          <a:xfrm>
            <a:off x="15597810" y="24809579"/>
            <a:ext cx="4007549" cy="2609626"/>
          </a:xfrm>
          <a:prstGeom prst="rect">
            <a:avLst/>
          </a:prstGeom>
        </p:spPr>
      </p:pic>
      <p:pic>
        <p:nvPicPr>
          <p:cNvPr id="147" name="图片 146"/>
          <p:cNvPicPr>
            <a:picLocks noChangeAspect="1"/>
          </p:cNvPicPr>
          <p:nvPr>
            <p:custDataLst>
              <p:tags r:id="rId42"/>
            </p:custDataLst>
          </p:nvPr>
        </p:nvPicPr>
        <p:blipFill>
          <a:blip r:embed="rId43">
            <a:clrChange>
              <a:clrFrom>
                <a:srgbClr val="FFFFFF">
                  <a:alpha val="100000"/>
                </a:srgbClr>
              </a:clrFrom>
              <a:clrTo>
                <a:srgbClr val="FFFFFF">
                  <a:alpha val="100000"/>
                  <a:alpha val="0"/>
                </a:srgbClr>
              </a:clrTo>
            </a:clrChange>
          </a:blip>
          <a:stretch>
            <a:fillRect/>
          </a:stretch>
        </p:blipFill>
        <p:spPr>
          <a:xfrm>
            <a:off x="15699848" y="28113065"/>
            <a:ext cx="3521592" cy="3272874"/>
          </a:xfrm>
          <a:prstGeom prst="rect">
            <a:avLst/>
          </a:prstGeom>
        </p:spPr>
      </p:pic>
      <p:pic>
        <p:nvPicPr>
          <p:cNvPr id="148" name="图片 147"/>
          <p:cNvPicPr>
            <a:picLocks noChangeAspect="1"/>
          </p:cNvPicPr>
          <p:nvPr>
            <p:custDataLst>
              <p:tags r:id="rId44"/>
            </p:custDataLst>
          </p:nvPr>
        </p:nvPicPr>
        <p:blipFill>
          <a:blip r:embed="rId45">
            <a:clrChange>
              <a:clrFrom>
                <a:srgbClr val="FFFFFF">
                  <a:alpha val="100000"/>
                </a:srgbClr>
              </a:clrFrom>
              <a:clrTo>
                <a:srgbClr val="FFFFFF">
                  <a:alpha val="100000"/>
                  <a:alpha val="0"/>
                </a:srgbClr>
              </a:clrTo>
            </a:clrChange>
          </a:blip>
          <a:stretch>
            <a:fillRect/>
          </a:stretch>
        </p:blipFill>
        <p:spPr>
          <a:xfrm>
            <a:off x="19021191" y="28113065"/>
            <a:ext cx="3658068" cy="3238437"/>
          </a:xfrm>
          <a:prstGeom prst="rect">
            <a:avLst/>
          </a:prstGeom>
        </p:spPr>
      </p:pic>
      <p:pic>
        <p:nvPicPr>
          <p:cNvPr id="152" name="图片 151"/>
          <p:cNvPicPr>
            <a:picLocks noChangeAspect="1"/>
          </p:cNvPicPr>
          <p:nvPr>
            <p:custDataLst>
              <p:tags r:id="rId46"/>
            </p:custDataLst>
          </p:nvPr>
        </p:nvPicPr>
        <p:blipFill>
          <a:blip r:embed="rId47">
            <a:clrChange>
              <a:clrFrom>
                <a:srgbClr val="FFFFFF">
                  <a:alpha val="100000"/>
                </a:srgbClr>
              </a:clrFrom>
              <a:clrTo>
                <a:srgbClr val="FFFFFF">
                  <a:alpha val="100000"/>
                  <a:alpha val="0"/>
                </a:srgbClr>
              </a:clrTo>
            </a:clrChange>
          </a:blip>
          <a:stretch>
            <a:fillRect/>
          </a:stretch>
        </p:blipFill>
        <p:spPr>
          <a:xfrm>
            <a:off x="19118127" y="30994368"/>
            <a:ext cx="3441237" cy="3261395"/>
          </a:xfrm>
          <a:prstGeom prst="rect">
            <a:avLst/>
          </a:prstGeom>
        </p:spPr>
      </p:pic>
      <p:pic>
        <p:nvPicPr>
          <p:cNvPr id="154" name="图片 153"/>
          <p:cNvPicPr>
            <a:picLocks noChangeAspect="1"/>
          </p:cNvPicPr>
          <p:nvPr>
            <p:custDataLst>
              <p:tags r:id="rId48"/>
            </p:custDataLst>
          </p:nvPr>
        </p:nvPicPr>
        <p:blipFill>
          <a:blip r:embed="rId49">
            <a:clrChange>
              <a:clrFrom>
                <a:srgbClr val="FFFFFF">
                  <a:alpha val="100000"/>
                </a:srgbClr>
              </a:clrFrom>
              <a:clrTo>
                <a:srgbClr val="FFFFFF">
                  <a:alpha val="100000"/>
                  <a:alpha val="0"/>
                </a:srgbClr>
              </a:clrTo>
            </a:clrChange>
          </a:blip>
          <a:stretch>
            <a:fillRect/>
          </a:stretch>
        </p:blipFill>
        <p:spPr>
          <a:xfrm>
            <a:off x="15676890" y="30994368"/>
            <a:ext cx="3593019" cy="3328995"/>
          </a:xfrm>
          <a:prstGeom prst="rect">
            <a:avLst/>
          </a:prstGeom>
        </p:spPr>
      </p:pic>
      <p:sp>
        <p:nvSpPr>
          <p:cNvPr id="156" name="文本框 155"/>
          <p:cNvSpPr txBox="1"/>
          <p:nvPr/>
        </p:nvSpPr>
        <p:spPr>
          <a:xfrm>
            <a:off x="16363096" y="24419283"/>
            <a:ext cx="3340475" cy="400050"/>
          </a:xfrm>
          <a:prstGeom prst="rect">
            <a:avLst/>
          </a:prstGeom>
          <a:noFill/>
        </p:spPr>
        <p:txBody>
          <a:bodyPr wrap="square" rtlCol="0">
            <a:spAutoFit/>
          </a:bodyPr>
          <a:p>
            <a:r>
              <a:rPr lang="en-US" altLang="zh-CN" sz="2010"/>
              <a:t>end-to-end distance</a:t>
            </a:r>
            <a:endParaRPr lang="en-US" altLang="zh-CN" sz="2010"/>
          </a:p>
        </p:txBody>
      </p:sp>
      <p:pic>
        <p:nvPicPr>
          <p:cNvPr id="158" name="图片 157"/>
          <p:cNvPicPr>
            <a:picLocks noChangeAspect="1"/>
          </p:cNvPicPr>
          <p:nvPr>
            <p:custDataLst>
              <p:tags r:id="rId50"/>
            </p:custDataLst>
          </p:nvPr>
        </p:nvPicPr>
        <p:blipFill>
          <a:blip r:embed="rId51"/>
          <a:stretch>
            <a:fillRect/>
          </a:stretch>
        </p:blipFill>
        <p:spPr>
          <a:xfrm>
            <a:off x="19096444" y="25064675"/>
            <a:ext cx="3177214" cy="1975714"/>
          </a:xfrm>
          <a:prstGeom prst="rect">
            <a:avLst/>
          </a:prstGeom>
        </p:spPr>
      </p:pic>
      <p:sp>
        <p:nvSpPr>
          <p:cNvPr id="159" name="文本框 158"/>
          <p:cNvSpPr txBox="1"/>
          <p:nvPr/>
        </p:nvSpPr>
        <p:spPr>
          <a:xfrm>
            <a:off x="20036471" y="24434589"/>
            <a:ext cx="1557358" cy="524221"/>
          </a:xfrm>
          <a:prstGeom prst="rect">
            <a:avLst/>
          </a:prstGeom>
          <a:noFill/>
        </p:spPr>
        <p:txBody>
          <a:bodyPr wrap="square" rtlCol="0">
            <a:noAutofit/>
          </a:bodyPr>
          <a:p>
            <a:r>
              <a:rPr lang="en-US" altLang="zh-CN" sz="2010"/>
              <a:t>300K Rg</a:t>
            </a:r>
            <a:endParaRPr lang="en-US" altLang="zh-CN" sz="2010"/>
          </a:p>
        </p:txBody>
      </p:sp>
      <p:sp>
        <p:nvSpPr>
          <p:cNvPr id="160" name="文本框 159"/>
          <p:cNvSpPr txBox="1"/>
          <p:nvPr>
            <p:custDataLst>
              <p:tags r:id="rId52"/>
            </p:custDataLst>
          </p:nvPr>
        </p:nvSpPr>
        <p:spPr>
          <a:xfrm>
            <a:off x="23397353" y="24434589"/>
            <a:ext cx="1557358" cy="524221"/>
          </a:xfrm>
          <a:prstGeom prst="rect">
            <a:avLst/>
          </a:prstGeom>
          <a:noFill/>
        </p:spPr>
        <p:txBody>
          <a:bodyPr wrap="square" rtlCol="0">
            <a:noAutofit/>
          </a:bodyPr>
          <a:p>
            <a:r>
              <a:rPr lang="en-US" altLang="zh-CN" sz="2010"/>
              <a:t>305K Rg</a:t>
            </a:r>
            <a:endParaRPr lang="en-US" altLang="zh-CN" sz="2010"/>
          </a:p>
        </p:txBody>
      </p:sp>
      <p:sp>
        <p:nvSpPr>
          <p:cNvPr id="161" name="文本框 160"/>
          <p:cNvSpPr txBox="1"/>
          <p:nvPr>
            <p:custDataLst>
              <p:tags r:id="rId53"/>
            </p:custDataLst>
          </p:nvPr>
        </p:nvSpPr>
        <p:spPr>
          <a:xfrm>
            <a:off x="26681707" y="24521321"/>
            <a:ext cx="1557358" cy="524221"/>
          </a:xfrm>
          <a:prstGeom prst="rect">
            <a:avLst/>
          </a:prstGeom>
          <a:noFill/>
        </p:spPr>
        <p:txBody>
          <a:bodyPr wrap="square" rtlCol="0">
            <a:noAutofit/>
          </a:bodyPr>
          <a:p>
            <a:r>
              <a:rPr lang="en-US" altLang="zh-CN" sz="2010"/>
              <a:t>315K Rg</a:t>
            </a:r>
            <a:endParaRPr lang="en-US" altLang="zh-CN" sz="2010"/>
          </a:p>
        </p:txBody>
      </p:sp>
      <p:sp>
        <p:nvSpPr>
          <p:cNvPr id="166" name="右箭头 165"/>
          <p:cNvSpPr/>
          <p:nvPr/>
        </p:nvSpPr>
        <p:spPr>
          <a:xfrm>
            <a:off x="25240417" y="25989396"/>
            <a:ext cx="1172164" cy="266575"/>
          </a:xfrm>
          <a:prstGeom prst="rightArrow">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sp>
        <p:nvSpPr>
          <p:cNvPr id="167" name="右箭头 166"/>
          <p:cNvSpPr/>
          <p:nvPr>
            <p:custDataLst>
              <p:tags r:id="rId54"/>
            </p:custDataLst>
          </p:nvPr>
        </p:nvSpPr>
        <p:spPr>
          <a:xfrm>
            <a:off x="21748161" y="26011079"/>
            <a:ext cx="1173439" cy="267850"/>
          </a:xfrm>
          <a:prstGeom prst="rightArrow">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sp>
        <p:nvSpPr>
          <p:cNvPr id="169" name="椭圆 168"/>
          <p:cNvSpPr/>
          <p:nvPr/>
        </p:nvSpPr>
        <p:spPr>
          <a:xfrm>
            <a:off x="17281440" y="25398850"/>
            <a:ext cx="918344" cy="1224458"/>
          </a:xfrm>
          <a:prstGeom prst="ellipse">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9040"/>
          </a:p>
        </p:txBody>
      </p:sp>
      <p:cxnSp>
        <p:nvCxnSpPr>
          <p:cNvPr id="170" name="直接箭头连接符 169"/>
          <p:cNvCxnSpPr/>
          <p:nvPr/>
        </p:nvCxnSpPr>
        <p:spPr>
          <a:xfrm flipV="1">
            <a:off x="17893669" y="24021334"/>
            <a:ext cx="3520317" cy="1989744"/>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171" name="文本框 170"/>
          <p:cNvSpPr txBox="1"/>
          <p:nvPr/>
        </p:nvSpPr>
        <p:spPr>
          <a:xfrm>
            <a:off x="19953565" y="27082479"/>
            <a:ext cx="8152850" cy="400050"/>
          </a:xfrm>
          <a:prstGeom prst="rect">
            <a:avLst/>
          </a:prstGeom>
          <a:noFill/>
        </p:spPr>
        <p:txBody>
          <a:bodyPr wrap="square" rtlCol="0">
            <a:spAutoFit/>
          </a:bodyPr>
          <a:p>
            <a:r>
              <a:rPr lang="zh-CN" altLang="en-US" sz="2010"/>
              <a:t>A significant decrease in the radius of gyration is observed at 305 K.</a:t>
            </a:r>
            <a:endParaRPr lang="zh-CN" altLang="en-US" sz="2010"/>
          </a:p>
        </p:txBody>
      </p:sp>
      <p:sp>
        <p:nvSpPr>
          <p:cNvPr id="172" name="TextBox 239"/>
          <p:cNvSpPr txBox="1"/>
          <p:nvPr>
            <p:custDataLst>
              <p:tags r:id="rId55"/>
            </p:custDataLst>
          </p:nvPr>
        </p:nvSpPr>
        <p:spPr>
          <a:xfrm>
            <a:off x="15699848" y="27541651"/>
            <a:ext cx="14926909" cy="586105"/>
          </a:xfrm>
          <a:prstGeom prst="rect">
            <a:avLst/>
          </a:prstGeom>
          <a:noFill/>
        </p:spPr>
        <p:txBody>
          <a:bodyPr wrap="square" rtlCol="0">
            <a:spAutoFit/>
          </a:bodyPr>
          <a:p>
            <a:pPr marL="342900" indent="-342900">
              <a:buFont typeface="Wingdings" panose="05000000000000000000" charset="0"/>
              <a:buChar char="Ø"/>
            </a:pPr>
            <a:r>
              <a:rPr lang="en-US" altLang="zh-CN" sz="3215" b="1" dirty="0">
                <a:solidFill>
                  <a:schemeClr val="tx1"/>
                </a:solidFill>
                <a:cs typeface="Times New Roman" panose="02020503050405090304" pitchFamily="18" charset="0"/>
              </a:rPr>
              <a:t>R</a:t>
            </a:r>
            <a:r>
              <a:rPr lang="zh-CN" altLang="en-US" sz="3215" b="1" dirty="0">
                <a:solidFill>
                  <a:schemeClr val="tx1"/>
                </a:solidFill>
                <a:cs typeface="Times New Roman" panose="02020503050405090304" pitchFamily="18" charset="0"/>
              </a:rPr>
              <a:t>adial distribution functions </a:t>
            </a:r>
            <a:r>
              <a:rPr lang="en-US" altLang="zh-CN" sz="3215" b="1" dirty="0">
                <a:solidFill>
                  <a:schemeClr val="tx1"/>
                </a:solidFill>
                <a:cs typeface="Times New Roman" panose="02020503050405090304" pitchFamily="18" charset="0"/>
              </a:rPr>
              <a:t> +  H-bond</a:t>
            </a:r>
            <a:r>
              <a:rPr lang="zh-CN" altLang="en-US" sz="3215" b="1" dirty="0">
                <a:solidFill>
                  <a:schemeClr val="tx1"/>
                </a:solidFill>
                <a:cs typeface="Times New Roman" panose="02020503050405090304" pitchFamily="18" charset="0"/>
              </a:rPr>
              <a:t> </a:t>
            </a:r>
            <a:endParaRPr lang="zh-CN" altLang="en-US" sz="3215" b="1" dirty="0">
              <a:solidFill>
                <a:schemeClr val="tx1"/>
              </a:solidFill>
              <a:cs typeface="Times New Roman" panose="02020503050405090304" pitchFamily="18" charset="0"/>
            </a:endParaRPr>
          </a:p>
        </p:txBody>
      </p:sp>
      <p:sp>
        <p:nvSpPr>
          <p:cNvPr id="174" name="文本框 173"/>
          <p:cNvSpPr txBox="1"/>
          <p:nvPr/>
        </p:nvSpPr>
        <p:spPr>
          <a:xfrm>
            <a:off x="22274933" y="28306938"/>
            <a:ext cx="6909260" cy="2200198"/>
          </a:xfrm>
          <a:prstGeom prst="rect">
            <a:avLst/>
          </a:prstGeom>
          <a:noFill/>
        </p:spPr>
        <p:txBody>
          <a:bodyPr wrap="square" rtlCol="0">
            <a:noAutofit/>
          </a:bodyPr>
          <a:p>
            <a:pPr algn="just"/>
            <a:r>
              <a:rPr lang="zh-CN" altLang="en-US" sz="2410"/>
              <a:t>Based on the peak position and sharpness, the interaction between water molecules and carbonyl oxygen is significantly stronger. The RDF results indicate that hydrogen bonding plays a crucial role in the phase separation process of PNVCL.</a:t>
            </a:r>
            <a:endParaRPr lang="zh-CN" altLang="en-US" sz="2410"/>
          </a:p>
        </p:txBody>
      </p:sp>
      <p:sp>
        <p:nvSpPr>
          <p:cNvPr id="175" name="文本框 174"/>
          <p:cNvSpPr txBox="1"/>
          <p:nvPr/>
        </p:nvSpPr>
        <p:spPr>
          <a:xfrm>
            <a:off x="23441995" y="30871922"/>
            <a:ext cx="1512716" cy="460447"/>
          </a:xfrm>
          <a:prstGeom prst="rect">
            <a:avLst/>
          </a:prstGeom>
          <a:noFill/>
        </p:spPr>
        <p:txBody>
          <a:bodyPr wrap="square" rtlCol="0">
            <a:noAutofit/>
          </a:bodyPr>
          <a:p>
            <a:r>
              <a:rPr lang="en-US" altLang="zh-CN" sz="2010"/>
              <a:t>H-bonds</a:t>
            </a:r>
            <a:endParaRPr lang="en-US" altLang="zh-CN" sz="2010"/>
          </a:p>
        </p:txBody>
      </p:sp>
      <p:sp>
        <p:nvSpPr>
          <p:cNvPr id="180" name="文本框 179"/>
          <p:cNvSpPr txBox="1"/>
          <p:nvPr/>
        </p:nvSpPr>
        <p:spPr>
          <a:xfrm>
            <a:off x="25393475" y="31521140"/>
            <a:ext cx="3665721" cy="2108364"/>
          </a:xfrm>
          <a:prstGeom prst="rect">
            <a:avLst/>
          </a:prstGeom>
          <a:noFill/>
        </p:spPr>
        <p:txBody>
          <a:bodyPr wrap="square" rtlCol="0">
            <a:noAutofit/>
          </a:bodyPr>
          <a:p>
            <a:pPr algn="just"/>
            <a:r>
              <a:rPr lang="zh-CN" altLang="en-US" sz="2010"/>
              <a:t>It can be observed that the total number of hydrogen bonds decreases with increasing temperature.</a:t>
            </a:r>
            <a:endParaRPr lang="zh-CN" altLang="en-US" sz="2010"/>
          </a:p>
        </p:txBody>
      </p:sp>
      <p:pic>
        <p:nvPicPr>
          <p:cNvPr id="181" name="图片 180"/>
          <p:cNvPicPr>
            <a:picLocks noChangeAspect="1"/>
          </p:cNvPicPr>
          <p:nvPr>
            <p:custDataLst>
              <p:tags r:id="rId56"/>
            </p:custDataLst>
          </p:nvPr>
        </p:nvPicPr>
        <p:blipFill>
          <a:blip r:embed="rId57"/>
          <a:stretch>
            <a:fillRect/>
          </a:stretch>
        </p:blipFill>
        <p:spPr>
          <a:xfrm>
            <a:off x="27046555" y="415925"/>
            <a:ext cx="2138045" cy="2138045"/>
          </a:xfrm>
          <a:prstGeom prst="rect">
            <a:avLst/>
          </a:prstGeom>
        </p:spPr>
      </p:pic>
      <p:pic>
        <p:nvPicPr>
          <p:cNvPr id="182" name="图片 181"/>
          <p:cNvPicPr>
            <a:picLocks noChangeAspect="1"/>
          </p:cNvPicPr>
          <p:nvPr>
            <p:custDataLst>
              <p:tags r:id="rId58"/>
            </p:custDataLst>
          </p:nvPr>
        </p:nvPicPr>
        <p:blipFill>
          <a:blip r:embed="rId59"/>
          <a:stretch>
            <a:fillRect/>
          </a:stretch>
        </p:blipFill>
        <p:spPr>
          <a:xfrm>
            <a:off x="1193165" y="43815"/>
            <a:ext cx="2995930" cy="1335405"/>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938.3646396677112,&quot;width&quot;:22132.286069862184}"/>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5.xml><?xml version="1.0" encoding="utf-8"?>
<p:tagLst xmlns:p="http://schemas.openxmlformats.org/presentationml/2006/main">
  <p:tag name="KSO_WPP_MARK_KEY" val="22710641-ae45-48f4-9616-df6e7d2db6e4"/>
  <p:tag name="COMMONDATA" val="eyJoZGlkIjoiZTA4NzIyN2MxYTlmMzQ1NGE2MjU5NWRkMjhlOGMxYTA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SUZ4ZCIsCgkiTGF0ZXhJbWdCYXNlNjQiIDogImlWQk9SdzBLR2dvQUFBQU5TVWhFVWdBQUFBRUFBQUFCQVFNQUFBQWwyMWJLQUFBQUExQk1WRVgvLy8rbnhCdklBQUFBQVhSU1RsTUFRT2JZWmdBQUFBbHdTRmx6QUFBT3hBQUFEc1FCbFNzT0d3QUFBQXBKUkVGVUNCMWpZQUFBQUFJQUFjL0lOZVVBQUFBQVNVVk9SSzVDWUlJPSIKfQo="/>
    </extobj>
  </extobjs>
</s:customData>
</file>

<file path=customXml/itemProps3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4769</Words>
  <Application>WPS 表格</Application>
  <PresentationFormat>사용자 지정</PresentationFormat>
  <Paragraphs>116</Paragraphs>
  <Slides>1</Slides>
  <Notes>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vt:i4>
      </vt:variant>
    </vt:vector>
  </HeadingPairs>
  <TitlesOfParts>
    <vt:vector size="20" baseType="lpstr">
      <vt:lpstr>Arial</vt:lpstr>
      <vt:lpstr>宋体</vt:lpstr>
      <vt:lpstr>Wingdings</vt:lpstr>
      <vt:lpstr>Batang</vt:lpstr>
      <vt:lpstr>Apple SD Gothic Neo</vt:lpstr>
      <vt:lpstr>Wingdings</vt:lpstr>
      <vt:lpstr>Times New Roman</vt:lpstr>
      <vt:lpstr>宋体</vt:lpstr>
      <vt:lpstr>Arial Bold</vt:lpstr>
      <vt:lpstr>DejaVu Math TeX Gyre</vt:lpstr>
      <vt:lpstr>汉仪书宋二KW</vt:lpstr>
      <vt:lpstr>宋体-简</vt:lpstr>
      <vt:lpstr>微软雅黑</vt:lpstr>
      <vt:lpstr>汉仪旗黑</vt:lpstr>
      <vt:lpstr>Arial Unicode MS</vt:lpstr>
      <vt:lpstr>Calibri</vt:lpstr>
      <vt:lpstr>Helvetica Neue</vt:lpstr>
      <vt:lpstr>Arima Koshi</vt:lpstr>
      <vt:lpstr>Default Design</vt:lpstr>
      <vt:lpstr>PowerPoint 演示文稿</vt:lpstr>
    </vt:vector>
  </TitlesOfParts>
  <Company>Graphicsland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Style F 36 by 54</dc:title>
  <dc:creator>Cindy Kranz</dc:creator>
  <cp:lastModifiedBy>장형열</cp:lastModifiedBy>
  <cp:revision>66</cp:revision>
  <dcterms:created xsi:type="dcterms:W3CDTF">2025-04-13T05:29:05Z</dcterms:created>
  <dcterms:modified xsi:type="dcterms:W3CDTF">2025-04-13T05:29:05Z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A5203F722BDD4F4FA76505EA8047B3D5</vt:lpwstr>
  </property>
  <property fmtid="{D5CDD505-2E9C-101B-9397-08002B2CF9AE}" pid="3" name="KSOProductBuildVer">
    <vt:lpwstr>2052-6.5.2.8766</vt:lpwstr>
  </property>
</Properties>
</file>